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256" r:id="rId2"/>
    <p:sldId id="257" r:id="rId3"/>
    <p:sldId id="258" r:id="rId4"/>
  </p:sldIdLst>
  <p:sldSz cx="12192000" cy="6858000"/>
  <p:notesSz cx="6858000" cy="9144000"/>
  <p:defaultTextStyle>
    <a:defPPr>
      <a:defRPr lang="en-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68"/>
  </p:normalViewPr>
  <p:slideViewPr>
    <p:cSldViewPr snapToGrid="0">
      <p:cViewPr varScale="1">
        <p:scale>
          <a:sx n="119" d="100"/>
          <a:sy n="119" d="100"/>
        </p:scale>
        <p:origin x="504"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Digital Key Roadmap</a:t>
            </a:r>
          </a:p>
          <a:p>
            <a:endParaRPr/>
          </a:p>
          <a:p>
            <a:r>
              <a:t>One product family, two protocol routes and three delivery options.</a:t>
            </a:r>
          </a:p>
          <a:p>
            <a:endParaRPr/>
          </a:p>
          <a:p>
            <a:r>
              <a:t>Development stages: current BTCS positioning demo, vehicle engineering, full product development, and production delivery.</a:t>
            </a:r>
          </a:p>
          <a:p>
            <a:r>
              <a:t>The current demo validates BTCS ranging and positioning under a non-CCC protocol.</a:t>
            </a:r>
          </a:p>
          <a:p>
            <a:r>
              <a:t>Vehicle engineering covers node placement, algorithm calibration, phone integration, positioning performance, reliability, power consumption and security validation.</a:t>
            </a:r>
          </a:p>
          <a:p>
            <a:r>
              <a:t>Full product development covers key activation, identity authentication, permissions, sharing and revocation, vehicle control, cloud management, and factory and aftersales tools.</a:t>
            </a:r>
          </a:p>
          <a:p>
            <a:endParaRPr/>
          </a:p>
          <a:p>
            <a:r>
              <a:t>Non-CCC and CCC are parallel protocol routes. Each can form a complete standalone product, or both can form a combined product. Combined delivery provides unified experience and management while meeting each route's protocol, credential, security and ecosystem requirements. Select the radio configuration according to the vehicle, device support, desired experience and cost requirements.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Vehicle Configuration and Total Cost</a:t>
            </a:r>
          </a:p>
          <a:p>
            <a:endParaRPr/>
          </a:p>
          <a:p>
            <a:r>
              <a:t>Positioning targets determine the hardware configuration. Compare complete vehicle costs against the same requirements.</a:t>
            </a:r>
          </a:p>
          <a:p>
            <a:endParaRPr/>
          </a:p>
          <a:p>
            <a:r>
              <a:t>NFC + BLE provides tap-based unlocking and starting, app vehicle controls and status queries. The cost baseline includes the NFC reader, BLE module, security components and vehicle integration. Precise positioning and passive access require additional design and validation.</a:t>
            </a:r>
          </a:p>
          <a:p>
            <a:endParaRPr/>
          </a:p>
          <a:p>
            <a:r>
              <a:t>NFC + BLE-CS targets distance sensing, approach detection and validated zone detection. One BLE-CS node provides a distance input. Inside/outside, door and trunk zone decisions require suitable node placement, multiple nodes or other position inputs. Cost additions include CS-capable chips, node and antenna counts, wiring, algorithm calibration and vehicle tests. A configuration may omit dedicated UWB radio hardware, but any vehicle cost advantage depends on the final design.</a:t>
            </a:r>
          </a:p>
          <a:p>
            <a:endParaRPr/>
          </a:p>
          <a:p>
            <a:r>
              <a:t>NFC + BLE + UWB targets secure ranging, position decisions and passive entry/start supported by the relevant ecosystem. Cost additions include UWB devices, antennas or anchors, placement and calibration, ecosystem integration and testing. Coverage, positioning needs and redundancy determine the node count. BTCS may assist approach detection and wake-up when supported.</a:t>
            </a:r>
          </a:p>
          <a:p>
            <a:endParaRPr/>
          </a:p>
          <a:p>
            <a:r>
              <a:t>Confirm the intended experience, phone coverage, foreground/background/locked-screen operation and complete vehicle cost. CCC can use the NFC + BLE WCC2 configuration. WCC3 passive entry/start retains the UWB requirement. Node count, phone coverage and cost advantages require project validation and BOM calculation.</a:t>
            </a:r>
          </a:p>
          <a:p>
            <a:endParaRPr/>
          </a:p>
          <a:p>
            <a:r>
              <a:t>Sources:</a:t>
            </a:r>
          </a:p>
          <a:p>
            <a:r>
              <a:t>Bluetooth SIG, Channel Sounding Technology Overview: https://www.bluetooth.com/channel-sounding-tech-overview/</a:t>
            </a:r>
          </a:p>
          <a:p>
            <a:r>
              <a:t>Bluetooth SIG, Channel Sounding and UWB cooperation and cost factors: https://www.bluetooth.com/blog/bluetooth-channel-sounding-will-expand-the-market-presence-of-distance-awareness/</a:t>
            </a:r>
          </a:p>
          <a:p>
            <a:r>
              <a:t>CCC Digital Key certification scope: https://carconnectivity.org/digital-key/ccc-digital-key-certification/</a:t>
            </a:r>
          </a:p>
          <a:p>
            <a:r>
              <a:t>CCC-TS-101 Digital Key v4.1.0, physical pages 436, 476, 561, 562 and 565.</a:t>
            </a:r>
          </a:p>
          <a:p>
            <a:r>
              <a:t>Local product definition: docs/product/digital-carkey-product-definition.md, WCC1/WCC2/WCC3 capability combinations.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BTCS Across Non-CCC and CCC Routes</a:t>
            </a:r>
          </a:p>
          <a:p>
            <a:endParaRPr/>
          </a:p>
          <a:p>
            <a:r>
              <a:t>BTCS can serve both non-CCC and CCC digital key routes.</a:t>
            </a:r>
          </a:p>
          <a:p>
            <a:endParaRPr/>
          </a:p>
          <a:p>
            <a:r>
              <a:t>Non-CCC route: BTCS provides ranging and positioning for the selected configuration. Vehicle node placement and algorithms support distance, zone and approach detection.</a:t>
            </a:r>
          </a:p>
          <a:p>
            <a:endParaRPr/>
          </a:p>
          <a:p>
            <a:r>
              <a:t>CCC route: CCC 4.1 includes optional BTCS support. Both phone and vehicle must support the capability and implement the required protocol flow. BTCS can assist approach-intent detection and system wake-up within a CCC digital key connection.</a:t>
            </a:r>
          </a:p>
          <a:p>
            <a:endParaRPr/>
          </a:p>
          <a:p>
            <a:r>
              <a:t>Combined delivery: combine NFC, BLE, BTCS and UWB according to the access path, device support and vehicle configuration to provide app and wallet digital key experiences.</a:t>
            </a:r>
          </a:p>
          <a:p>
            <a:endParaRPr/>
          </a:p>
          <a:p>
            <a:r>
              <a:t>Experience targets include approach detection, vehicle wake-up and location-dependent vehicle functions. Vehicle actions depend on valid key permissions, security policies and position conditions. Evaluate total vehicle cost while meeting the experience, security and device coverage requirements.</a:t>
            </a:r>
          </a:p>
          <a:p>
            <a:endParaRPr/>
          </a:p>
          <a:p>
            <a:r>
              <a:t>Product acceptance requires a compatible phone list, operating scenarios, zone accuracy, response latency, false-trigger rate, fallback behavior and agreed acceptance criteria. BTCS is optional in CCC. WCC3 passive entry retains UWB secure ranging and positioning requirements. The current demo validates non-CCC BTCS positioning. Complete product coverage, vehicle security, power and cost performance still require validation.</a:t>
            </a:r>
          </a:p>
          <a:p>
            <a:endParaRPr/>
          </a:p>
          <a:p>
            <a:r>
              <a:t>Sources:</a:t>
            </a:r>
          </a:p>
          <a:p>
            <a:r>
              <a:t>CCC-TS-101 Digital Key v4.1.0, physical pages 436, 476, 561, 562 and 565.</a:t>
            </a:r>
          </a:p>
          <a:p>
            <a:r>
              <a:t>Bluetooth SIG: https://www.bluetooth.com/channel-sounding-tech-overview/</a:t>
            </a:r>
          </a:p>
          <a:p>
            <a:r>
              <a:t>CCC certification scope: https://carconnectivity.org/digital-key/ccc-digital-key-certification/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11F003BE-D162-42D1-A8F9-65D490D6CC2D}"/>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Subtitle">
            <a:extLst>
              <a:ext uri="{FF2B5EF4-FFF2-40B4-BE49-F238E27FC236}">
                <a16:creationId xmlns:a16="http://schemas.microsoft.com/office/drawing/2014/main" id="{46854E23-DAC2-4DFA-AEE3-F0E079293A58}"/>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DC4D54B8-0D51-42ED-8564-FC2B81F3579E}"/>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70996310-6BAE-4CD4-8D48-82733DA581DB}"/>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Body">
            <a:extLst>
              <a:ext uri="{FF2B5EF4-FFF2-40B4-BE49-F238E27FC236}">
                <a16:creationId xmlns:a16="http://schemas.microsoft.com/office/drawing/2014/main" id="{14A9BCD8-F3EC-4CB9-9998-CD0296D84F5C}"/>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2AEFECD7-0EAD-4662-AAC3-1558D4D08C76}"/>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Left column">
            <a:extLst>
              <a:ext uri="{FF2B5EF4-FFF2-40B4-BE49-F238E27FC236}">
                <a16:creationId xmlns:a16="http://schemas.microsoft.com/office/drawing/2014/main" id="{2075433A-A1CC-48C1-988C-B54353CA41A5}"/>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
        <p:nvSpPr>
          <p:cNvPr id="3" name="Right column">
            <a:extLst>
              <a:ext uri="{FF2B5EF4-FFF2-40B4-BE49-F238E27FC236}">
                <a16:creationId xmlns:a16="http://schemas.microsoft.com/office/drawing/2014/main" id="{54422126-46F0-43E4-838E-DA76E785CE7F}"/>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B38FB74F-01C4-493F-8221-C067E5DD9B52}"/>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Left column">
            <a:extLst>
              <a:ext uri="{FF2B5EF4-FFF2-40B4-BE49-F238E27FC236}">
                <a16:creationId xmlns:a16="http://schemas.microsoft.com/office/drawing/2014/main" id="{FA1933EA-4DF4-4CDD-85F5-5CC50A706A0D}"/>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Digital Key Roadmap">
            <a:extLst>
              <a:ext uri="{FF2B5EF4-FFF2-40B4-BE49-F238E27FC236}">
                <a16:creationId xmlns:a16="http://schemas.microsoft.com/office/drawing/2014/main" id="{5CE67B2B-510C-4FD0-919D-DE8554BBC074}"/>
              </a:ext>
            </a:extLst>
          </p:cNvPr>
          <p:cNvSpPr>
            <a:spLocks noGrp="1"/>
          </p:cNvSpPr>
          <p:nvPr/>
        </p:nvSpPr>
        <p:spPr>
          <a:xfrm>
            <a:off x="685800" y="381000"/>
            <a:ext cx="10820400" cy="609600"/>
          </a:xfrm>
          <a:prstGeom prst="rect">
            <a:avLst/>
          </a:prstGeom>
          <a:noFill/>
          <a:ln w="0">
            <a:noFill/>
          </a:ln>
        </p:spPr>
        <p:txBody>
          <a:bodyPr wrap="square" lIns="0" tIns="0" rIns="0" bIns="0" anchor="t">
            <a:noAutofit/>
          </a:bodyPr>
          <a:lstStyle>
            <a:defPPr>
              <a:defRPr sz="3450" b="1">
                <a:solidFill>
                  <a:srgbClr val="152D46"/>
                </a:solidFill>
                <a:latin typeface="Arial Unicode MS"/>
                <a:ea typeface="Arial Unicode MS"/>
                <a:cs typeface="Arial Unicode MS"/>
              </a:defRPr>
            </a:defPPr>
          </a:lstStyle>
          <a:p>
            <a:pPr>
              <a:buNone/>
              <a:defRPr sz="3450" b="1">
                <a:solidFill>
                  <a:srgbClr val="152D46"/>
                </a:solidFill>
                <a:latin typeface="Arial Unicode MS"/>
                <a:ea typeface="Arial Unicode MS"/>
                <a:cs typeface="Arial Unicode MS"/>
              </a:defRPr>
            </a:pPr>
            <a:r>
              <a:rPr sz="3450" b="1">
                <a:solidFill>
                  <a:srgbClr val="152D46"/>
                </a:solidFill>
                <a:latin typeface="Arial Unicode MS"/>
                <a:ea typeface="Arial Unicode MS"/>
                <a:cs typeface="Arial Unicode MS"/>
              </a:rPr>
              <a:t>Digital Key Roadmap</a:t>
            </a:r>
          </a:p>
        </p:txBody>
      </p:sp>
      <p:sp>
        <p:nvSpPr>
          <p:cNvPr id="2" name="One product family. Two protocol rou">
            <a:extLst>
              <a:ext uri="{FF2B5EF4-FFF2-40B4-BE49-F238E27FC236}">
                <a16:creationId xmlns:a16="http://schemas.microsoft.com/office/drawing/2014/main" id="{F1E86D56-0AF1-49BA-8127-D8024F4C0A75}"/>
              </a:ext>
            </a:extLst>
          </p:cNvPr>
          <p:cNvSpPr>
            <a:spLocks noGrp="1"/>
          </p:cNvSpPr>
          <p:nvPr/>
        </p:nvSpPr>
        <p:spPr>
          <a:xfrm>
            <a:off x="685800" y="1057275"/>
            <a:ext cx="10820400" cy="400050"/>
          </a:xfrm>
          <a:prstGeom prst="rect">
            <a:avLst/>
          </a:prstGeom>
          <a:noFill/>
          <a:ln w="0">
            <a:noFill/>
          </a:ln>
        </p:spPr>
        <p:txBody>
          <a:bodyPr wrap="square" lIns="0" tIns="0" rIns="0" bIns="0" anchor="t">
            <a:noAutofit/>
          </a:bodyPr>
          <a:lstStyle>
            <a:defPPr>
              <a:defRPr sz="2025">
                <a:solidFill>
                  <a:srgbClr val="1C65A6"/>
                </a:solidFill>
                <a:latin typeface="Arial Unicode MS"/>
                <a:ea typeface="Arial Unicode MS"/>
                <a:cs typeface="Arial Unicode MS"/>
              </a:defRPr>
            </a:defPPr>
          </a:lstStyle>
          <a:p>
            <a:pPr>
              <a:buNone/>
              <a:defRPr sz="2025">
                <a:solidFill>
                  <a:srgbClr val="1C65A6"/>
                </a:solidFill>
                <a:latin typeface="Arial Unicode MS"/>
                <a:ea typeface="Arial Unicode MS"/>
                <a:cs typeface="Arial Unicode MS"/>
              </a:defRPr>
            </a:pPr>
            <a:r>
              <a:rPr sz="2025">
                <a:solidFill>
                  <a:srgbClr val="1C65A6"/>
                </a:solidFill>
                <a:latin typeface="Arial Unicode MS"/>
                <a:ea typeface="Arial Unicode MS"/>
                <a:cs typeface="Arial Unicode MS"/>
              </a:rPr>
              <a:t>One product family. Two protocol routes. Three delivery options.</a:t>
            </a:r>
          </a:p>
        </p:txBody>
      </p:sp>
      <p:sp>
        <p:nvSpPr>
          <p:cNvPr id="3" name="1 / 3">
            <a:extLst>
              <a:ext uri="{FF2B5EF4-FFF2-40B4-BE49-F238E27FC236}">
                <a16:creationId xmlns:a16="http://schemas.microsoft.com/office/drawing/2014/main" id="{BF8564FA-BF2D-4247-9A85-2A463F0625CE}"/>
              </a:ext>
            </a:extLst>
          </p:cNvPr>
          <p:cNvSpPr>
            <a:spLocks noGrp="1"/>
          </p:cNvSpPr>
          <p:nvPr/>
        </p:nvSpPr>
        <p:spPr>
          <a:xfrm>
            <a:off x="10668000" y="6572250"/>
            <a:ext cx="838200" cy="200025"/>
          </a:xfrm>
          <a:prstGeom prst="rect">
            <a:avLst/>
          </a:prstGeom>
          <a:noFill/>
          <a:ln w="0">
            <a:noFill/>
          </a:ln>
        </p:spPr>
        <p:txBody>
          <a:bodyPr wrap="square" lIns="0" tIns="0" rIns="0" bIns="0" anchor="t">
            <a:noAutofit/>
          </a:bodyPr>
          <a:lstStyle>
            <a:defPPr algn="r">
              <a:defRPr sz="1125">
                <a:solidFill>
                  <a:srgbClr val="5F7184"/>
                </a:solidFill>
                <a:latin typeface="Arial Unicode MS"/>
                <a:ea typeface="Arial Unicode MS"/>
                <a:cs typeface="Arial Unicode MS"/>
              </a:defRPr>
            </a:defPPr>
          </a:lstStyle>
          <a:p>
            <a:pPr algn="r">
              <a:buNone/>
              <a:defRPr sz="1125">
                <a:solidFill>
                  <a:srgbClr val="5F7184"/>
                </a:solidFill>
                <a:latin typeface="Arial Unicode MS"/>
                <a:ea typeface="Arial Unicode MS"/>
                <a:cs typeface="Arial Unicode MS"/>
              </a:defRPr>
            </a:pPr>
            <a:r>
              <a:rPr sz="1125">
                <a:solidFill>
                  <a:srgbClr val="5F7184"/>
                </a:solidFill>
                <a:latin typeface="Arial Unicode MS"/>
                <a:ea typeface="Arial Unicode MS"/>
                <a:cs typeface="Arial Unicode MS"/>
              </a:rPr>
              <a:t>1 / 3</a:t>
            </a:r>
          </a:p>
        </p:txBody>
      </p:sp>
      <p:graphicFrame>
        <p:nvGraphicFramePr>
          <p:cNvPr id="4" name="Table 3">
            <a:extLst>
              <a:ext uri="{FF2B5EF4-FFF2-40B4-BE49-F238E27FC236}">
                <a16:creationId xmlns:a16="http://schemas.microsoft.com/office/drawing/2014/main" id="{1FF710D0-69EA-45E2-839D-C16E8B37675B}"/>
              </a:ext>
            </a:extLst>
          </p:cNvPr>
          <p:cNvGraphicFramePr/>
          <p:nvPr/>
        </p:nvGraphicFramePr>
        <p:xfrm>
          <a:off x="685800" y="1724025"/>
          <a:ext cx="10820400" cy="2000250"/>
        </p:xfrm>
        <a:graphic>
          <a:graphicData uri="http://schemas.openxmlformats.org/drawingml/2006/table">
            <a:tbl>
              <a:tblPr/>
              <a:tblGrid>
                <a:gridCol w="2705100">
                  <a:extLst>
                    <a:ext uri="{9D8B030D-6E8A-4147-A177-3AD203B41FA5}">
                      <a16:colId xmlns:a16="http://schemas.microsoft.com/office/drawing/2014/main" val="20000"/>
                    </a:ext>
                  </a:extLst>
                </a:gridCol>
                <a:gridCol w="2705100">
                  <a:extLst>
                    <a:ext uri="{9D8B030D-6E8A-4147-A177-3AD203B41FA5}">
                      <a16:colId xmlns:a16="http://schemas.microsoft.com/office/drawing/2014/main" val="20001"/>
                    </a:ext>
                  </a:extLst>
                </a:gridCol>
                <a:gridCol w="2705100">
                  <a:extLst>
                    <a:ext uri="{9D8B030D-6E8A-4147-A177-3AD203B41FA5}">
                      <a16:colId xmlns:a16="http://schemas.microsoft.com/office/drawing/2014/main" val="20002"/>
                    </a:ext>
                  </a:extLst>
                </a:gridCol>
                <a:gridCol w="2705100">
                  <a:extLst>
                    <a:ext uri="{9D8B030D-6E8A-4147-A177-3AD203B41FA5}">
                      <a16:colId xmlns:a16="http://schemas.microsoft.com/office/drawing/2014/main" val="20003"/>
                    </a:ext>
                  </a:extLst>
                </a:gridCol>
              </a:tblGrid>
              <a:tr h="533400">
                <a:tc>
                  <a:txBody>
                    <a:bodyPr/>
                    <a:lstStyle/>
                    <a:p>
                      <a:pPr algn="l">
                        <a:buNone/>
                      </a:pPr>
                      <a:r>
                        <a:rPr sz="1650" b="1">
                          <a:solidFill>
                            <a:srgbClr val="C77820"/>
                          </a:solidFill>
                          <a:latin typeface="Arial Unicode MS"/>
                          <a:ea typeface="Arial Unicode MS"/>
                          <a:cs typeface="Arial Unicode MS"/>
                        </a:rPr>
                        <a:t>01  Current Demo</a:t>
                      </a:r>
                    </a:p>
                  </a:txBody>
                  <a:tcPr marL="152400" marR="152400" marT="95250" marB="95250" anchor="ctr">
                    <a:solidFill>
                      <a:srgbClr val="FFF0DC"/>
                    </a:solidFill>
                  </a:tcPr>
                </a:tc>
                <a:tc>
                  <a:txBody>
                    <a:bodyPr/>
                    <a:lstStyle/>
                    <a:p>
                      <a:pPr algn="l">
                        <a:buNone/>
                      </a:pPr>
                      <a:r>
                        <a:rPr sz="1650" b="1">
                          <a:solidFill>
                            <a:srgbClr val="152D46"/>
                          </a:solidFill>
                          <a:latin typeface="Arial Unicode MS"/>
                          <a:ea typeface="Arial Unicode MS"/>
                          <a:cs typeface="Arial Unicode MS"/>
                        </a:rPr>
                        <a:t>02  Vehicle Engineering</a:t>
                      </a:r>
                    </a:p>
                  </a:txBody>
                  <a:tcPr marL="152400" marR="152400" marT="95250" marB="95250" anchor="ctr">
                    <a:solidFill>
                      <a:srgbClr val="EFF5FA"/>
                    </a:solidFill>
                  </a:tcPr>
                </a:tc>
                <a:tc>
                  <a:txBody>
                    <a:bodyPr/>
                    <a:lstStyle/>
                    <a:p>
                      <a:pPr algn="l">
                        <a:buNone/>
                      </a:pPr>
                      <a:r>
                        <a:rPr sz="1650" b="1">
                          <a:solidFill>
                            <a:srgbClr val="152D46"/>
                          </a:solidFill>
                          <a:latin typeface="Arial Unicode MS"/>
                          <a:ea typeface="Arial Unicode MS"/>
                          <a:cs typeface="Arial Unicode MS"/>
                        </a:rPr>
                        <a:t>03  Full Product</a:t>
                      </a:r>
                    </a:p>
                  </a:txBody>
                  <a:tcPr marL="152400" marR="152400" marT="95250" marB="95250" anchor="ctr">
                    <a:solidFill>
                      <a:srgbClr val="EFF5FA"/>
                    </a:solidFill>
                  </a:tcPr>
                </a:tc>
                <a:tc>
                  <a:txBody>
                    <a:bodyPr/>
                    <a:lstStyle/>
                    <a:p>
                      <a:pPr algn="l">
                        <a:buNone/>
                      </a:pPr>
                      <a:r>
                        <a:rPr sz="1650" b="1">
                          <a:solidFill>
                            <a:srgbClr val="152D46"/>
                          </a:solidFill>
                          <a:latin typeface="Arial Unicode MS"/>
                          <a:ea typeface="Arial Unicode MS"/>
                          <a:cs typeface="Arial Unicode MS"/>
                        </a:rPr>
                        <a:t>04  Production Delivery</a:t>
                      </a:r>
                    </a:p>
                  </a:txBody>
                  <a:tcPr marL="152400" marR="152400" marT="95250" marB="95250" anchor="ctr">
                    <a:solidFill>
                      <a:srgbClr val="EFF5FA"/>
                    </a:solidFill>
                  </a:tcPr>
                </a:tc>
                <a:extLst>
                  <a:ext uri="{0D108BD9-81ED-4DB2-BD59-A6C34878D82A}">
                    <a16:rowId xmlns:a16="http://schemas.microsoft.com/office/drawing/2014/main" val="10000"/>
                  </a:ext>
                </a:extLst>
              </a:tr>
              <a:tr h="1466850">
                <a:tc>
                  <a:txBody>
                    <a:bodyPr/>
                    <a:lstStyle/>
                    <a:p>
                      <a:pPr algn="l">
                        <a:buNone/>
                      </a:pPr>
                      <a:r>
                        <a:rPr sz="1650" b="0" dirty="0">
                          <a:solidFill>
                            <a:srgbClr val="31475D"/>
                          </a:solidFill>
                          <a:latin typeface="Arial Unicode MS"/>
                          <a:ea typeface="Arial Unicode MS"/>
                          <a:cs typeface="Arial Unicode MS"/>
                        </a:rPr>
                        <a:t>Non-CCC protocol</a:t>
                      </a:r>
                    </a:p>
                    <a:p>
                      <a:pPr algn="l">
                        <a:buNone/>
                      </a:pPr>
                      <a:r>
                        <a:rPr sz="1650" b="0" dirty="0">
                          <a:solidFill>
                            <a:srgbClr val="31475D"/>
                          </a:solidFill>
                          <a:latin typeface="Arial Unicode MS"/>
                          <a:ea typeface="Arial Unicode MS"/>
                          <a:cs typeface="Arial Unicode MS"/>
                        </a:rPr>
                        <a:t>BTCS ranging and</a:t>
                      </a:r>
                    </a:p>
                    <a:p>
                      <a:pPr algn="l">
                        <a:buNone/>
                      </a:pPr>
                      <a:r>
                        <a:rPr sz="1650" b="0" dirty="0">
                          <a:solidFill>
                            <a:srgbClr val="31475D"/>
                          </a:solidFill>
                          <a:latin typeface="Arial Unicode MS"/>
                          <a:ea typeface="Arial Unicode MS"/>
                          <a:cs typeface="Arial Unicode MS"/>
                        </a:rPr>
                        <a:t>positioning validation</a:t>
                      </a:r>
                    </a:p>
                  </a:txBody>
                  <a:tcPr marL="152400" marR="152400" marT="95250" marB="95250">
                    <a:solidFill>
                      <a:srgbClr val="FFFFFF"/>
                    </a:solidFill>
                  </a:tcPr>
                </a:tc>
                <a:tc>
                  <a:txBody>
                    <a:bodyPr/>
                    <a:lstStyle/>
                    <a:p>
                      <a:pPr algn="l">
                        <a:buNone/>
                      </a:pPr>
                      <a:r>
                        <a:rPr sz="1650" b="0" dirty="0">
                          <a:solidFill>
                            <a:srgbClr val="31475D"/>
                          </a:solidFill>
                          <a:latin typeface="Arial Unicode MS"/>
                          <a:ea typeface="Arial Unicode MS"/>
                          <a:cs typeface="Arial Unicode MS"/>
                        </a:rPr>
                        <a:t>Layout and calibration</a:t>
                      </a:r>
                    </a:p>
                    <a:p>
                      <a:pPr algn="l">
                        <a:buNone/>
                      </a:pPr>
                      <a:r>
                        <a:rPr sz="1650" b="0" dirty="0">
                          <a:solidFill>
                            <a:srgbClr val="31475D"/>
                          </a:solidFill>
                          <a:latin typeface="Arial Unicode MS"/>
                          <a:ea typeface="Arial Unicode MS"/>
                          <a:cs typeface="Arial Unicode MS"/>
                        </a:rPr>
                        <a:t>Phone integration</a:t>
                      </a:r>
                    </a:p>
                    <a:p>
                      <a:pPr algn="l">
                        <a:buNone/>
                      </a:pPr>
                      <a:r>
                        <a:rPr sz="1650" b="0" dirty="0">
                          <a:solidFill>
                            <a:srgbClr val="31475D"/>
                          </a:solidFill>
                          <a:latin typeface="Arial Unicode MS"/>
                          <a:ea typeface="Arial Unicode MS"/>
                          <a:cs typeface="Arial Unicode MS"/>
                        </a:rPr>
                        <a:t>Reliability and security</a:t>
                      </a:r>
                    </a:p>
                    <a:p>
                      <a:pPr algn="l">
                        <a:buNone/>
                      </a:pPr>
                      <a:r>
                        <a:rPr sz="1650" b="0" dirty="0">
                          <a:solidFill>
                            <a:srgbClr val="31475D"/>
                          </a:solidFill>
                          <a:latin typeface="Arial Unicode MS"/>
                          <a:ea typeface="Arial Unicode MS"/>
                          <a:cs typeface="Arial Unicode MS"/>
                        </a:rPr>
                        <a:t>Power consumption</a:t>
                      </a:r>
                    </a:p>
                  </a:txBody>
                  <a:tcPr marL="152400" marR="152400" marT="95250" marB="95250">
                    <a:solidFill>
                      <a:srgbClr val="FFFFFF"/>
                    </a:solidFill>
                  </a:tcPr>
                </a:tc>
                <a:tc>
                  <a:txBody>
                    <a:bodyPr/>
                    <a:lstStyle/>
                    <a:p>
                      <a:pPr algn="l">
                        <a:buNone/>
                      </a:pPr>
                      <a:r>
                        <a:rPr sz="1650" b="0">
                          <a:solidFill>
                            <a:srgbClr val="31475D"/>
                          </a:solidFill>
                          <a:latin typeface="Arial Unicode MS"/>
                          <a:ea typeface="Arial Unicode MS"/>
                          <a:cs typeface="Arial Unicode MS"/>
                        </a:rPr>
                        <a:t>Activation, authentication</a:t>
                      </a:r>
                    </a:p>
                    <a:p>
                      <a:pPr algn="l">
                        <a:buNone/>
                      </a:pPr>
                      <a:r>
                        <a:rPr sz="1650" b="0">
                          <a:solidFill>
                            <a:srgbClr val="31475D"/>
                          </a:solidFill>
                          <a:latin typeface="Arial Unicode MS"/>
                          <a:ea typeface="Arial Unicode MS"/>
                          <a:cs typeface="Arial Unicode MS"/>
                        </a:rPr>
                        <a:t>Permissions and sharing</a:t>
                      </a:r>
                    </a:p>
                    <a:p>
                      <a:pPr algn="l">
                        <a:buNone/>
                      </a:pPr>
                      <a:r>
                        <a:rPr sz="1650" b="0">
                          <a:solidFill>
                            <a:srgbClr val="31475D"/>
                          </a:solidFill>
                          <a:latin typeface="Arial Unicode MS"/>
                          <a:ea typeface="Arial Unicode MS"/>
                          <a:cs typeface="Arial Unicode MS"/>
                        </a:rPr>
                        <a:t>Revocation and control</a:t>
                      </a:r>
                    </a:p>
                    <a:p>
                      <a:pPr algn="l">
                        <a:buNone/>
                      </a:pPr>
                      <a:r>
                        <a:rPr sz="1650" b="0">
                          <a:solidFill>
                            <a:srgbClr val="31475D"/>
                          </a:solidFill>
                          <a:latin typeface="Arial Unicode MS"/>
                          <a:ea typeface="Arial Unicode MS"/>
                          <a:cs typeface="Arial Unicode MS"/>
                        </a:rPr>
                        <a:t>Cloud and factory tools</a:t>
                      </a:r>
                    </a:p>
                    <a:p>
                      <a:pPr algn="l">
                        <a:buNone/>
                      </a:pPr>
                      <a:r>
                        <a:rPr sz="1650" b="0">
                          <a:solidFill>
                            <a:srgbClr val="31475D"/>
                          </a:solidFill>
                          <a:latin typeface="Arial Unicode MS"/>
                          <a:ea typeface="Arial Unicode MS"/>
                          <a:cs typeface="Arial Unicode MS"/>
                        </a:rPr>
                        <a:t>Aftersales tools</a:t>
                      </a:r>
                    </a:p>
                  </a:txBody>
                  <a:tcPr marL="152400" marR="152400" marT="95250" marB="95250">
                    <a:solidFill>
                      <a:srgbClr val="FFFFFF"/>
                    </a:solidFill>
                  </a:tcPr>
                </a:tc>
                <a:tc>
                  <a:txBody>
                    <a:bodyPr/>
                    <a:lstStyle/>
                    <a:p>
                      <a:pPr algn="l">
                        <a:buNone/>
                      </a:pPr>
                      <a:r>
                        <a:rPr sz="1650" b="0" dirty="0">
                          <a:solidFill>
                            <a:srgbClr val="31475D"/>
                          </a:solidFill>
                          <a:latin typeface="Arial Unicode MS"/>
                          <a:ea typeface="Arial Unicode MS"/>
                          <a:cs typeface="Arial Unicode MS"/>
                        </a:rPr>
                        <a:t>Vehicle adaptation</a:t>
                      </a:r>
                    </a:p>
                    <a:p>
                      <a:pPr algn="l">
                        <a:buNone/>
                      </a:pPr>
                      <a:r>
                        <a:rPr sz="1650" b="0" dirty="0">
                          <a:solidFill>
                            <a:srgbClr val="31475D"/>
                          </a:solidFill>
                          <a:latin typeface="Arial Unicode MS"/>
                          <a:ea typeface="Arial Unicode MS"/>
                          <a:cs typeface="Arial Unicode MS"/>
                        </a:rPr>
                        <a:t>Ecosystem integration</a:t>
                      </a:r>
                    </a:p>
                    <a:p>
                      <a:pPr algn="l">
                        <a:buNone/>
                      </a:pPr>
                      <a:r>
                        <a:rPr sz="1650" b="0" dirty="0">
                          <a:solidFill>
                            <a:srgbClr val="31475D"/>
                          </a:solidFill>
                          <a:latin typeface="Arial Unicode MS"/>
                          <a:ea typeface="Arial Unicode MS"/>
                          <a:cs typeface="Arial Unicode MS"/>
                        </a:rPr>
                        <a:t>Certification and acceptance</a:t>
                      </a:r>
                    </a:p>
                    <a:p>
                      <a:pPr algn="l">
                        <a:buNone/>
                      </a:pPr>
                      <a:r>
                        <a:rPr sz="1650" b="0" dirty="0">
                          <a:solidFill>
                            <a:srgbClr val="31475D"/>
                          </a:solidFill>
                          <a:latin typeface="Arial Unicode MS"/>
                          <a:ea typeface="Arial Unicode MS"/>
                          <a:cs typeface="Arial Unicode MS"/>
                        </a:rPr>
                        <a:t>Production deployment</a:t>
                      </a:r>
                    </a:p>
                  </a:txBody>
                  <a:tcPr marL="152400" marR="152400" marT="95250" marB="95250">
                    <a:solidFill>
                      <a:srgbClr val="FFFFFF"/>
                    </a:solidFill>
                  </a:tcPr>
                </a:tc>
                <a:extLst>
                  <a:ext uri="{0D108BD9-81ED-4DB2-BD59-A6C34878D82A}">
                    <a16:rowId xmlns:a16="http://schemas.microsoft.com/office/drawing/2014/main" val="10001"/>
                  </a:ext>
                </a:extLst>
              </a:tr>
            </a:tbl>
          </a:graphicData>
        </a:graphic>
      </p:graphicFrame>
      <p:sp>
        <p:nvSpPr>
          <p:cNvPr id="5" name="Three Product Delivery Options">
            <a:extLst>
              <a:ext uri="{FF2B5EF4-FFF2-40B4-BE49-F238E27FC236}">
                <a16:creationId xmlns:a16="http://schemas.microsoft.com/office/drawing/2014/main" id="{B7BDF97B-42DD-4AD6-9571-B880BF9D47CE}"/>
              </a:ext>
            </a:extLst>
          </p:cNvPr>
          <p:cNvSpPr>
            <a:spLocks noGrp="1"/>
          </p:cNvSpPr>
          <p:nvPr/>
        </p:nvSpPr>
        <p:spPr>
          <a:xfrm>
            <a:off x="685800" y="3914775"/>
            <a:ext cx="10820400" cy="381000"/>
          </a:xfrm>
          <a:prstGeom prst="rect">
            <a:avLst/>
          </a:prstGeom>
          <a:noFill/>
          <a:ln w="0">
            <a:noFill/>
          </a:ln>
        </p:spPr>
        <p:txBody>
          <a:bodyPr wrap="square" lIns="0" tIns="0" rIns="0" bIns="0" anchor="t">
            <a:noAutofit/>
          </a:bodyPr>
          <a:lstStyle>
            <a:defPPr>
              <a:defRPr sz="2100" b="1">
                <a:solidFill>
                  <a:srgbClr val="152D46"/>
                </a:solidFill>
                <a:latin typeface="Arial Unicode MS"/>
                <a:ea typeface="Arial Unicode MS"/>
                <a:cs typeface="Arial Unicode MS"/>
              </a:defRPr>
            </a:defPPr>
          </a:lstStyle>
          <a:p>
            <a:pPr>
              <a:buNone/>
              <a:defRPr sz="2100" b="1">
                <a:solidFill>
                  <a:srgbClr val="152D46"/>
                </a:solidFill>
                <a:latin typeface="Arial Unicode MS"/>
                <a:ea typeface="Arial Unicode MS"/>
                <a:cs typeface="Arial Unicode MS"/>
              </a:defRPr>
            </a:pPr>
            <a:r>
              <a:rPr sz="2100" b="1">
                <a:solidFill>
                  <a:srgbClr val="152D46"/>
                </a:solidFill>
                <a:latin typeface="Arial Unicode MS"/>
                <a:ea typeface="Arial Unicode MS"/>
                <a:cs typeface="Arial Unicode MS"/>
              </a:rPr>
              <a:t>Three Product Delivery Options</a:t>
            </a:r>
          </a:p>
        </p:txBody>
      </p:sp>
      <p:graphicFrame>
        <p:nvGraphicFramePr>
          <p:cNvPr id="6" name="Table 5">
            <a:extLst>
              <a:ext uri="{FF2B5EF4-FFF2-40B4-BE49-F238E27FC236}">
                <a16:creationId xmlns:a16="http://schemas.microsoft.com/office/drawing/2014/main" id="{BD3D0B04-05D7-4961-89E6-F9831487BB3B}"/>
              </a:ext>
            </a:extLst>
          </p:cNvPr>
          <p:cNvGraphicFramePr/>
          <p:nvPr/>
        </p:nvGraphicFramePr>
        <p:xfrm>
          <a:off x="685800" y="4391025"/>
          <a:ext cx="10820400" cy="1524000"/>
        </p:xfrm>
        <a:graphic>
          <a:graphicData uri="http://schemas.openxmlformats.org/drawingml/2006/table">
            <a:tbl>
              <a:tblPr/>
              <a:tblGrid>
                <a:gridCol w="3600450">
                  <a:extLst>
                    <a:ext uri="{9D8B030D-6E8A-4147-A177-3AD203B41FA5}">
                      <a16:colId xmlns:a16="http://schemas.microsoft.com/office/drawing/2014/main" val="20000"/>
                    </a:ext>
                  </a:extLst>
                </a:gridCol>
                <a:gridCol w="3609975">
                  <a:extLst>
                    <a:ext uri="{9D8B030D-6E8A-4147-A177-3AD203B41FA5}">
                      <a16:colId xmlns:a16="http://schemas.microsoft.com/office/drawing/2014/main" val="20001"/>
                    </a:ext>
                  </a:extLst>
                </a:gridCol>
                <a:gridCol w="3609975">
                  <a:extLst>
                    <a:ext uri="{9D8B030D-6E8A-4147-A177-3AD203B41FA5}">
                      <a16:colId xmlns:a16="http://schemas.microsoft.com/office/drawing/2014/main" val="20002"/>
                    </a:ext>
                  </a:extLst>
                </a:gridCol>
              </a:tblGrid>
              <a:tr h="533400">
                <a:tc>
                  <a:txBody>
                    <a:bodyPr/>
                    <a:lstStyle/>
                    <a:p>
                      <a:pPr algn="l">
                        <a:buNone/>
                      </a:pPr>
                      <a:r>
                        <a:rPr sz="1725" b="1" dirty="0">
                          <a:solidFill>
                            <a:srgbClr val="152D46"/>
                          </a:solidFill>
                          <a:latin typeface="Arial Unicode MS"/>
                          <a:ea typeface="Arial Unicode MS"/>
                          <a:cs typeface="Arial Unicode MS"/>
                        </a:rPr>
                        <a:t>Non-CCC Digital Key</a:t>
                      </a:r>
                    </a:p>
                  </a:txBody>
                  <a:tcPr marL="152400" marR="152400" marT="95250" marB="95250" anchor="ctr">
                    <a:solidFill>
                      <a:srgbClr val="EFF5FA"/>
                    </a:solidFill>
                  </a:tcPr>
                </a:tc>
                <a:tc>
                  <a:txBody>
                    <a:bodyPr/>
                    <a:lstStyle/>
                    <a:p>
                      <a:pPr algn="l">
                        <a:buNone/>
                      </a:pPr>
                      <a:r>
                        <a:rPr sz="1725" b="1">
                          <a:solidFill>
                            <a:srgbClr val="152D46"/>
                          </a:solidFill>
                          <a:latin typeface="Arial Unicode MS"/>
                          <a:ea typeface="Arial Unicode MS"/>
                          <a:cs typeface="Arial Unicode MS"/>
                        </a:rPr>
                        <a:t>CCC Digital Key</a:t>
                      </a:r>
                    </a:p>
                  </a:txBody>
                  <a:tcPr marL="152400" marR="152400" marT="95250" marB="95250" anchor="ctr">
                    <a:solidFill>
                      <a:srgbClr val="EFF5FA"/>
                    </a:solidFill>
                  </a:tcPr>
                </a:tc>
                <a:tc>
                  <a:txBody>
                    <a:bodyPr/>
                    <a:lstStyle/>
                    <a:p>
                      <a:pPr algn="l">
                        <a:buNone/>
                      </a:pPr>
                      <a:r>
                        <a:rPr sz="1725" b="1">
                          <a:solidFill>
                            <a:srgbClr val="152D46"/>
                          </a:solidFill>
                          <a:latin typeface="Arial Unicode MS"/>
                          <a:ea typeface="Arial Unicode MS"/>
                          <a:cs typeface="Arial Unicode MS"/>
                        </a:rPr>
                        <a:t>Combined Digital Key</a:t>
                      </a:r>
                    </a:p>
                  </a:txBody>
                  <a:tcPr marL="152400" marR="152400" marT="95250" marB="95250" anchor="ctr">
                    <a:solidFill>
                      <a:srgbClr val="EFF5FA"/>
                    </a:solidFill>
                  </a:tcPr>
                </a:tc>
                <a:extLst>
                  <a:ext uri="{0D108BD9-81ED-4DB2-BD59-A6C34878D82A}">
                    <a16:rowId xmlns:a16="http://schemas.microsoft.com/office/drawing/2014/main" val="10000"/>
                  </a:ext>
                </a:extLst>
              </a:tr>
              <a:tr h="990600">
                <a:tc>
                  <a:txBody>
                    <a:bodyPr/>
                    <a:lstStyle/>
                    <a:p>
                      <a:pPr algn="l">
                        <a:buNone/>
                      </a:pPr>
                      <a:r>
                        <a:rPr sz="1725" b="0" dirty="0">
                          <a:solidFill>
                            <a:srgbClr val="31475D"/>
                          </a:solidFill>
                          <a:latin typeface="Arial Unicode MS"/>
                          <a:ea typeface="Arial Unicode MS"/>
                          <a:cs typeface="Arial Unicode MS"/>
                        </a:rPr>
                        <a:t>Proprietary protocol</a:t>
                      </a:r>
                    </a:p>
                    <a:p>
                      <a:pPr algn="l">
                        <a:buNone/>
                      </a:pPr>
                      <a:r>
                        <a:rPr sz="1725" b="0" dirty="0">
                          <a:solidFill>
                            <a:srgbClr val="31475D"/>
                          </a:solidFill>
                          <a:latin typeface="Arial Unicode MS"/>
                          <a:ea typeface="Arial Unicode MS"/>
                          <a:cs typeface="Arial Unicode MS"/>
                        </a:rPr>
                        <a:t>Digital keys through the OEM app</a:t>
                      </a:r>
                    </a:p>
                  </a:txBody>
                  <a:tcPr marL="152400" marR="152400" marT="95250" marB="95250">
                    <a:solidFill>
                      <a:srgbClr val="FFFFFF"/>
                    </a:solidFill>
                  </a:tcPr>
                </a:tc>
                <a:tc>
                  <a:txBody>
                    <a:bodyPr/>
                    <a:lstStyle/>
                    <a:p>
                      <a:pPr algn="l">
                        <a:buNone/>
                      </a:pPr>
                      <a:r>
                        <a:rPr sz="1725" b="0" dirty="0">
                          <a:solidFill>
                            <a:srgbClr val="31475D"/>
                          </a:solidFill>
                          <a:latin typeface="Arial Unicode MS"/>
                          <a:ea typeface="Arial Unicode MS"/>
                          <a:cs typeface="Arial Unicode MS"/>
                        </a:rPr>
                        <a:t>CCC protocol</a:t>
                      </a:r>
                    </a:p>
                    <a:p>
                      <a:pPr algn="l">
                        <a:buNone/>
                      </a:pPr>
                      <a:r>
                        <a:rPr sz="1725" b="0" dirty="0">
                          <a:solidFill>
                            <a:srgbClr val="31475D"/>
                          </a:solidFill>
                          <a:latin typeface="Arial Unicode MS"/>
                          <a:ea typeface="Arial Unicode MS"/>
                          <a:cs typeface="Arial Unicode MS"/>
                        </a:rPr>
                        <a:t>Supported wallet integration</a:t>
                      </a:r>
                    </a:p>
                  </a:txBody>
                  <a:tcPr marL="152400" marR="152400" marT="95250" marB="95250">
                    <a:solidFill>
                      <a:srgbClr val="FFFFFF"/>
                    </a:solidFill>
                  </a:tcPr>
                </a:tc>
                <a:tc>
                  <a:txBody>
                    <a:bodyPr/>
                    <a:lstStyle/>
                    <a:p>
                      <a:pPr algn="l">
                        <a:buNone/>
                      </a:pPr>
                      <a:r>
                        <a:rPr sz="1725" b="0" dirty="0">
                          <a:solidFill>
                            <a:srgbClr val="31475D"/>
                          </a:solidFill>
                          <a:latin typeface="Arial Unicode MS"/>
                          <a:ea typeface="Arial Unicode MS"/>
                          <a:cs typeface="Arial Unicode MS"/>
                        </a:rPr>
                        <a:t>App and wallet support</a:t>
                      </a:r>
                    </a:p>
                    <a:p>
                      <a:pPr algn="l">
                        <a:buNone/>
                      </a:pPr>
                      <a:r>
                        <a:rPr sz="1725" b="0" dirty="0">
                          <a:solidFill>
                            <a:srgbClr val="31475D"/>
                          </a:solidFill>
                          <a:latin typeface="Arial Unicode MS"/>
                          <a:ea typeface="Arial Unicode MS"/>
                          <a:cs typeface="Arial Unicode MS"/>
                        </a:rPr>
                        <a:t>Unified experience and management</a:t>
                      </a:r>
                    </a:p>
                  </a:txBody>
                  <a:tcPr marL="152400" marR="152400" marT="95250" marB="95250">
                    <a:solidFill>
                      <a:srgbClr val="FFFFFF"/>
                    </a:solidFill>
                  </a:tcPr>
                </a:tc>
                <a:extLst>
                  <a:ext uri="{0D108BD9-81ED-4DB2-BD59-A6C34878D82A}">
                    <a16:rowId xmlns:a16="http://schemas.microsoft.com/office/drawing/2014/main" val="10001"/>
                  </a:ext>
                </a:extLst>
              </a:tr>
            </a:tbl>
          </a:graphicData>
        </a:graphic>
      </p:graphicFrame>
      <p:sp>
        <p:nvSpPr>
          <p:cNvPr id="7" name="Both routes develop in parallel, wit">
            <a:extLst>
              <a:ext uri="{FF2B5EF4-FFF2-40B4-BE49-F238E27FC236}">
                <a16:creationId xmlns:a16="http://schemas.microsoft.com/office/drawing/2014/main" id="{4E2A1756-5EAA-4DF6-91F8-FF001F4E3B2D}"/>
              </a:ext>
            </a:extLst>
          </p:cNvPr>
          <p:cNvSpPr>
            <a:spLocks noGrp="1"/>
          </p:cNvSpPr>
          <p:nvPr/>
        </p:nvSpPr>
        <p:spPr>
          <a:xfrm>
            <a:off x="685800" y="6200775"/>
            <a:ext cx="10820400" cy="361950"/>
          </a:xfrm>
          <a:prstGeom prst="rect">
            <a:avLst/>
          </a:prstGeom>
          <a:noFill/>
          <a:ln w="0">
            <a:noFill/>
          </a:ln>
        </p:spPr>
        <p:txBody>
          <a:bodyPr wrap="square" lIns="0" tIns="0" rIns="0" bIns="0" anchor="t">
            <a:noAutofit/>
          </a:bodyPr>
          <a:lstStyle>
            <a:defPPr>
              <a:defRPr sz="2025">
                <a:solidFill>
                  <a:srgbClr val="1C65A6"/>
                </a:solidFill>
                <a:latin typeface="Arial Unicode MS"/>
                <a:ea typeface="Arial Unicode MS"/>
                <a:cs typeface="Arial Unicode MS"/>
              </a:defRPr>
            </a:defPPr>
          </a:lstStyle>
          <a:p>
            <a:pPr>
              <a:buNone/>
              <a:defRPr sz="2025">
                <a:solidFill>
                  <a:srgbClr val="1C65A6"/>
                </a:solidFill>
                <a:latin typeface="Arial Unicode MS"/>
                <a:ea typeface="Arial Unicode MS"/>
                <a:cs typeface="Arial Unicode MS"/>
              </a:defRPr>
            </a:pPr>
            <a:r>
              <a:rPr sz="2025" dirty="0">
                <a:solidFill>
                  <a:srgbClr val="1C65A6"/>
                </a:solidFill>
                <a:latin typeface="Arial Unicode MS"/>
                <a:ea typeface="Arial Unicode MS"/>
                <a:cs typeface="Arial Unicode MS"/>
              </a:rPr>
              <a:t>Both routes develop in parallel, with standalone or combined delivery.</a:t>
            </a:r>
          </a:p>
        </p:txBody>
      </p:sp>
    </p:spTree>
    <p:extLst>
      <p:ext uri="{BB962C8B-B14F-4D97-AF65-F5344CB8AC3E}">
        <p14:creationId xmlns:p14="http://schemas.microsoft.com/office/powerpoint/2010/main" val="16490945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Vehicle Configuration and Total Cost">
            <a:extLst>
              <a:ext uri="{FF2B5EF4-FFF2-40B4-BE49-F238E27FC236}">
                <a16:creationId xmlns:a16="http://schemas.microsoft.com/office/drawing/2014/main" id="{99914D68-91E9-476B-B986-FEEE9C147BE6}"/>
              </a:ext>
            </a:extLst>
          </p:cNvPr>
          <p:cNvSpPr>
            <a:spLocks noGrp="1"/>
          </p:cNvSpPr>
          <p:nvPr/>
        </p:nvSpPr>
        <p:spPr>
          <a:xfrm>
            <a:off x="685800" y="381000"/>
            <a:ext cx="10820400" cy="609600"/>
          </a:xfrm>
          <a:prstGeom prst="rect">
            <a:avLst/>
          </a:prstGeom>
          <a:noFill/>
          <a:ln w="0">
            <a:noFill/>
          </a:ln>
        </p:spPr>
        <p:txBody>
          <a:bodyPr wrap="square" lIns="0" tIns="0" rIns="0" bIns="0" anchor="t">
            <a:noAutofit/>
          </a:bodyPr>
          <a:lstStyle>
            <a:defPPr>
              <a:defRPr sz="3450" b="1">
                <a:solidFill>
                  <a:srgbClr val="152D46"/>
                </a:solidFill>
                <a:latin typeface="Arial Unicode MS"/>
                <a:ea typeface="Arial Unicode MS"/>
                <a:cs typeface="Arial Unicode MS"/>
              </a:defRPr>
            </a:defPPr>
          </a:lstStyle>
          <a:p>
            <a:pPr>
              <a:buNone/>
              <a:defRPr sz="3450" b="1">
                <a:solidFill>
                  <a:srgbClr val="152D46"/>
                </a:solidFill>
                <a:latin typeface="Arial Unicode MS"/>
                <a:ea typeface="Arial Unicode MS"/>
                <a:cs typeface="Arial Unicode MS"/>
              </a:defRPr>
            </a:pPr>
            <a:r>
              <a:rPr sz="3450" b="1">
                <a:solidFill>
                  <a:srgbClr val="152D46"/>
                </a:solidFill>
                <a:latin typeface="Arial Unicode MS"/>
                <a:ea typeface="Arial Unicode MS"/>
                <a:cs typeface="Arial Unicode MS"/>
              </a:rPr>
              <a:t>Vehicle Configuration and Total Cost</a:t>
            </a:r>
          </a:p>
        </p:txBody>
      </p:sp>
      <p:sp>
        <p:nvSpPr>
          <p:cNvPr id="2" name="Positioning targets drive hardware c">
            <a:extLst>
              <a:ext uri="{FF2B5EF4-FFF2-40B4-BE49-F238E27FC236}">
                <a16:creationId xmlns:a16="http://schemas.microsoft.com/office/drawing/2014/main" id="{022E39E4-AF72-4089-A395-DA7A000C8D46}"/>
              </a:ext>
            </a:extLst>
          </p:cNvPr>
          <p:cNvSpPr>
            <a:spLocks noGrp="1"/>
          </p:cNvSpPr>
          <p:nvPr/>
        </p:nvSpPr>
        <p:spPr>
          <a:xfrm>
            <a:off x="685800" y="1057275"/>
            <a:ext cx="10820400" cy="400050"/>
          </a:xfrm>
          <a:prstGeom prst="rect">
            <a:avLst/>
          </a:prstGeom>
          <a:noFill/>
          <a:ln w="0">
            <a:noFill/>
          </a:ln>
        </p:spPr>
        <p:txBody>
          <a:bodyPr wrap="square" lIns="0" tIns="0" rIns="0" bIns="0" anchor="t">
            <a:noAutofit/>
          </a:bodyPr>
          <a:lstStyle>
            <a:defPPr>
              <a:defRPr sz="1875">
                <a:solidFill>
                  <a:srgbClr val="1C65A6"/>
                </a:solidFill>
                <a:latin typeface="Arial Unicode MS"/>
                <a:ea typeface="Arial Unicode MS"/>
                <a:cs typeface="Arial Unicode MS"/>
              </a:defRPr>
            </a:defPPr>
          </a:lstStyle>
          <a:p>
            <a:pPr>
              <a:buNone/>
              <a:defRPr sz="1875">
                <a:solidFill>
                  <a:srgbClr val="1C65A6"/>
                </a:solidFill>
                <a:latin typeface="Arial Unicode MS"/>
                <a:ea typeface="Arial Unicode MS"/>
                <a:cs typeface="Arial Unicode MS"/>
              </a:defRPr>
            </a:pPr>
            <a:r>
              <a:rPr sz="1875">
                <a:solidFill>
                  <a:srgbClr val="1C65A6"/>
                </a:solidFill>
                <a:latin typeface="Arial Unicode MS"/>
                <a:ea typeface="Arial Unicode MS"/>
                <a:cs typeface="Arial Unicode MS"/>
              </a:rPr>
              <a:t>Positioning targets drive hardware choices. Compare cost for the same requirements.</a:t>
            </a:r>
          </a:p>
        </p:txBody>
      </p:sp>
      <p:sp>
        <p:nvSpPr>
          <p:cNvPr id="3" name="2 / 3">
            <a:extLst>
              <a:ext uri="{FF2B5EF4-FFF2-40B4-BE49-F238E27FC236}">
                <a16:creationId xmlns:a16="http://schemas.microsoft.com/office/drawing/2014/main" id="{7B238125-CECC-4E1B-B772-F7E3312F3895}"/>
              </a:ext>
            </a:extLst>
          </p:cNvPr>
          <p:cNvSpPr>
            <a:spLocks noGrp="1"/>
          </p:cNvSpPr>
          <p:nvPr/>
        </p:nvSpPr>
        <p:spPr>
          <a:xfrm>
            <a:off x="10668000" y="6572250"/>
            <a:ext cx="838200" cy="200025"/>
          </a:xfrm>
          <a:prstGeom prst="rect">
            <a:avLst/>
          </a:prstGeom>
          <a:noFill/>
          <a:ln w="0">
            <a:noFill/>
          </a:ln>
        </p:spPr>
        <p:txBody>
          <a:bodyPr wrap="square" lIns="0" tIns="0" rIns="0" bIns="0" anchor="t">
            <a:noAutofit/>
          </a:bodyPr>
          <a:lstStyle>
            <a:defPPr algn="r">
              <a:defRPr sz="1125">
                <a:solidFill>
                  <a:srgbClr val="5F7184"/>
                </a:solidFill>
                <a:latin typeface="Arial Unicode MS"/>
                <a:ea typeface="Arial Unicode MS"/>
                <a:cs typeface="Arial Unicode MS"/>
              </a:defRPr>
            </a:defPPr>
          </a:lstStyle>
          <a:p>
            <a:pPr algn="r">
              <a:buNone/>
              <a:defRPr sz="1125">
                <a:solidFill>
                  <a:srgbClr val="5F7184"/>
                </a:solidFill>
                <a:latin typeface="Arial Unicode MS"/>
                <a:ea typeface="Arial Unicode MS"/>
                <a:cs typeface="Arial Unicode MS"/>
              </a:defRPr>
            </a:pPr>
            <a:r>
              <a:rPr sz="1125">
                <a:solidFill>
                  <a:srgbClr val="5F7184"/>
                </a:solidFill>
                <a:latin typeface="Arial Unicode MS"/>
                <a:ea typeface="Arial Unicode MS"/>
                <a:cs typeface="Arial Unicode MS"/>
              </a:rPr>
              <a:t>2 / 3</a:t>
            </a:r>
          </a:p>
        </p:txBody>
      </p:sp>
      <p:graphicFrame>
        <p:nvGraphicFramePr>
          <p:cNvPr id="4" name="Table 3">
            <a:extLst>
              <a:ext uri="{FF2B5EF4-FFF2-40B4-BE49-F238E27FC236}">
                <a16:creationId xmlns:a16="http://schemas.microsoft.com/office/drawing/2014/main" id="{41E10C1E-0FC8-42D6-8040-BC9E66A5450B}"/>
              </a:ext>
            </a:extLst>
          </p:cNvPr>
          <p:cNvGraphicFramePr/>
          <p:nvPr/>
        </p:nvGraphicFramePr>
        <p:xfrm>
          <a:off x="685800" y="1647825"/>
          <a:ext cx="10820400" cy="3905250"/>
        </p:xfrm>
        <a:graphic>
          <a:graphicData uri="http://schemas.openxmlformats.org/drawingml/2006/table">
            <a:tbl>
              <a:tblPr/>
              <a:tblGrid>
                <a:gridCol w="1847850">
                  <a:extLst>
                    <a:ext uri="{9D8B030D-6E8A-4147-A177-3AD203B41FA5}">
                      <a16:colId xmlns:a16="http://schemas.microsoft.com/office/drawing/2014/main" val="20000"/>
                    </a:ext>
                  </a:extLst>
                </a:gridCol>
                <a:gridCol w="2343150">
                  <a:extLst>
                    <a:ext uri="{9D8B030D-6E8A-4147-A177-3AD203B41FA5}">
                      <a16:colId xmlns:a16="http://schemas.microsoft.com/office/drawing/2014/main" val="20001"/>
                    </a:ext>
                  </a:extLst>
                </a:gridCol>
                <a:gridCol w="2895600">
                  <a:extLst>
                    <a:ext uri="{9D8B030D-6E8A-4147-A177-3AD203B41FA5}">
                      <a16:colId xmlns:a16="http://schemas.microsoft.com/office/drawing/2014/main" val="20002"/>
                    </a:ext>
                  </a:extLst>
                </a:gridCol>
                <a:gridCol w="3733800">
                  <a:extLst>
                    <a:ext uri="{9D8B030D-6E8A-4147-A177-3AD203B41FA5}">
                      <a16:colId xmlns:a16="http://schemas.microsoft.com/office/drawing/2014/main" val="20003"/>
                    </a:ext>
                  </a:extLst>
                </a:gridCol>
              </a:tblGrid>
              <a:tr h="438150">
                <a:tc>
                  <a:txBody>
                    <a:bodyPr/>
                    <a:lstStyle/>
                    <a:p>
                      <a:pPr algn="l">
                        <a:buNone/>
                      </a:pPr>
                      <a:r>
                        <a:rPr sz="1650" b="1">
                          <a:solidFill>
                            <a:srgbClr val="152D46"/>
                          </a:solidFill>
                          <a:latin typeface="Arial Unicode MS"/>
                          <a:ea typeface="Arial Unicode MS"/>
                          <a:cs typeface="Arial Unicode MS"/>
                        </a:rPr>
                        <a:t>Configuration</a:t>
                      </a:r>
                    </a:p>
                  </a:txBody>
                  <a:tcPr marL="152400" marR="152400" marT="95250" marB="95250" anchor="ctr">
                    <a:solidFill>
                      <a:srgbClr val="EFF5FA"/>
                    </a:solidFill>
                  </a:tcPr>
                </a:tc>
                <a:tc>
                  <a:txBody>
                    <a:bodyPr/>
                    <a:lstStyle/>
                    <a:p>
                      <a:pPr algn="l">
                        <a:buNone/>
                      </a:pPr>
                      <a:r>
                        <a:rPr sz="1650" b="1">
                          <a:solidFill>
                            <a:srgbClr val="152D46"/>
                          </a:solidFill>
                          <a:latin typeface="Arial Unicode MS"/>
                          <a:ea typeface="Arial Unicode MS"/>
                          <a:cs typeface="Arial Unicode MS"/>
                        </a:rPr>
                        <a:t>Experience / Target</a:t>
                      </a:r>
                    </a:p>
                  </a:txBody>
                  <a:tcPr marL="152400" marR="152400" marT="95250" marB="95250" anchor="ctr">
                    <a:solidFill>
                      <a:srgbClr val="EFF5FA"/>
                    </a:solidFill>
                  </a:tcPr>
                </a:tc>
                <a:tc>
                  <a:txBody>
                    <a:bodyPr/>
                    <a:lstStyle/>
                    <a:p>
                      <a:pPr algn="l">
                        <a:buNone/>
                      </a:pPr>
                      <a:r>
                        <a:rPr sz="1650" b="1">
                          <a:solidFill>
                            <a:srgbClr val="152D46"/>
                          </a:solidFill>
                          <a:latin typeface="Arial Unicode MS"/>
                          <a:ea typeface="Arial Unicode MS"/>
                          <a:cs typeface="Arial Unicode MS"/>
                        </a:rPr>
                        <a:t>Cost Baseline / Additions</a:t>
                      </a:r>
                    </a:p>
                  </a:txBody>
                  <a:tcPr marL="152400" marR="152400" marT="95250" marB="95250" anchor="ctr">
                    <a:solidFill>
                      <a:srgbClr val="EFF5FA"/>
                    </a:solidFill>
                  </a:tcPr>
                </a:tc>
                <a:tc>
                  <a:txBody>
                    <a:bodyPr/>
                    <a:lstStyle/>
                    <a:p>
                      <a:pPr algn="l">
                        <a:buNone/>
                      </a:pPr>
                      <a:r>
                        <a:rPr sz="1650" b="1">
                          <a:solidFill>
                            <a:srgbClr val="152D46"/>
                          </a:solidFill>
                          <a:latin typeface="Arial Unicode MS"/>
                          <a:ea typeface="Arial Unicode MS"/>
                          <a:cs typeface="Arial Unicode MS"/>
                        </a:rPr>
                        <a:t>Selection Criteria</a:t>
                      </a:r>
                    </a:p>
                  </a:txBody>
                  <a:tcPr marL="152400" marR="152400" marT="95250" marB="95250" anchor="ctr">
                    <a:solidFill>
                      <a:srgbClr val="EFF5FA"/>
                    </a:solidFill>
                  </a:tcPr>
                </a:tc>
                <a:extLst>
                  <a:ext uri="{0D108BD9-81ED-4DB2-BD59-A6C34878D82A}">
                    <a16:rowId xmlns:a16="http://schemas.microsoft.com/office/drawing/2014/main" val="10000"/>
                  </a:ext>
                </a:extLst>
              </a:tr>
              <a:tr h="952500">
                <a:tc>
                  <a:txBody>
                    <a:bodyPr/>
                    <a:lstStyle/>
                    <a:p>
                      <a:pPr algn="l">
                        <a:buNone/>
                      </a:pPr>
                      <a:r>
                        <a:rPr sz="1725" b="1">
                          <a:solidFill>
                            <a:srgbClr val="1C65A6"/>
                          </a:solidFill>
                          <a:latin typeface="Arial Unicode MS"/>
                          <a:ea typeface="Arial Unicode MS"/>
                          <a:cs typeface="Arial Unicode MS"/>
                        </a:rPr>
                        <a:t>NFC + BLE</a:t>
                      </a:r>
                    </a:p>
                    <a:p>
                      <a:pPr algn="l">
                        <a:buNone/>
                      </a:pPr>
                      <a:r>
                        <a:rPr sz="1725" b="1">
                          <a:solidFill>
                            <a:srgbClr val="1C65A6"/>
                          </a:solidFill>
                          <a:latin typeface="Arial Unicode MS"/>
                          <a:ea typeface="Arial Unicode MS"/>
                          <a:cs typeface="Arial Unicode MS"/>
                        </a:rPr>
                        <a:t>Basic access</a:t>
                      </a:r>
                    </a:p>
                  </a:txBody>
                  <a:tcPr marL="152400" marR="152400" marT="95250" marB="95250">
                    <a:solidFill>
                      <a:srgbClr val="FFFFFF"/>
                    </a:solidFill>
                  </a:tcPr>
                </a:tc>
                <a:tc>
                  <a:txBody>
                    <a:bodyPr/>
                    <a:lstStyle/>
                    <a:p>
                      <a:pPr algn="l">
                        <a:buNone/>
                      </a:pPr>
                      <a:r>
                        <a:rPr sz="1650" b="0">
                          <a:solidFill>
                            <a:srgbClr val="31475D"/>
                          </a:solidFill>
                          <a:latin typeface="Arial Unicode MS"/>
                          <a:ea typeface="Arial Unicode MS"/>
                          <a:cs typeface="Arial Unicode MS"/>
                        </a:rPr>
                        <a:t>Tap to unlock / start</a:t>
                      </a:r>
                    </a:p>
                    <a:p>
                      <a:pPr algn="l">
                        <a:buNone/>
                      </a:pPr>
                      <a:r>
                        <a:rPr sz="1650" b="0">
                          <a:solidFill>
                            <a:srgbClr val="31475D"/>
                          </a:solidFill>
                          <a:latin typeface="Arial Unicode MS"/>
                          <a:ea typeface="Arial Unicode MS"/>
                          <a:cs typeface="Arial Unicode MS"/>
                        </a:rPr>
                        <a:t>App vehicle controls</a:t>
                      </a:r>
                    </a:p>
                    <a:p>
                      <a:pPr algn="l">
                        <a:buNone/>
                      </a:pPr>
                      <a:r>
                        <a:rPr sz="1650" b="0">
                          <a:solidFill>
                            <a:srgbClr val="31475D"/>
                          </a:solidFill>
                          <a:latin typeface="Arial Unicode MS"/>
                          <a:ea typeface="Arial Unicode MS"/>
                          <a:cs typeface="Arial Unicode MS"/>
                        </a:rPr>
                        <a:t>Vehicle status</a:t>
                      </a:r>
                    </a:p>
                  </a:txBody>
                  <a:tcPr marL="152400" marR="152400" marT="95250" marB="95250">
                    <a:solidFill>
                      <a:srgbClr val="FFFFFF"/>
                    </a:solidFill>
                  </a:tcPr>
                </a:tc>
                <a:tc>
                  <a:txBody>
                    <a:bodyPr/>
                    <a:lstStyle/>
                    <a:p>
                      <a:pPr algn="l">
                        <a:buNone/>
                      </a:pPr>
                      <a:r>
                        <a:rPr sz="1650" b="0">
                          <a:solidFill>
                            <a:srgbClr val="31475D"/>
                          </a:solidFill>
                          <a:latin typeface="Arial Unicode MS"/>
                          <a:ea typeface="Arial Unicode MS"/>
                          <a:cs typeface="Arial Unicode MS"/>
                        </a:rPr>
                        <a:t>NFC reader, BLE module</a:t>
                      </a:r>
                    </a:p>
                    <a:p>
                      <a:pPr algn="l">
                        <a:buNone/>
                      </a:pPr>
                      <a:r>
                        <a:rPr sz="1650" b="0">
                          <a:solidFill>
                            <a:srgbClr val="31475D"/>
                          </a:solidFill>
                          <a:latin typeface="Arial Unicode MS"/>
                          <a:ea typeface="Arial Unicode MS"/>
                          <a:cs typeface="Arial Unicode MS"/>
                        </a:rPr>
                        <a:t>Security components</a:t>
                      </a:r>
                    </a:p>
                    <a:p>
                      <a:pPr algn="l">
                        <a:buNone/>
                      </a:pPr>
                      <a:r>
                        <a:rPr sz="1650" b="0">
                          <a:solidFill>
                            <a:srgbClr val="31475D"/>
                          </a:solidFill>
                          <a:latin typeface="Arial Unicode MS"/>
                          <a:ea typeface="Arial Unicode MS"/>
                          <a:cs typeface="Arial Unicode MS"/>
                        </a:rPr>
                        <a:t>Vehicle integration</a:t>
                      </a:r>
                    </a:p>
                  </a:txBody>
                  <a:tcPr marL="152400" marR="152400" marT="95250" marB="95250">
                    <a:solidFill>
                      <a:srgbClr val="FFFFFF"/>
                    </a:solidFill>
                  </a:tcPr>
                </a:tc>
                <a:tc>
                  <a:txBody>
                    <a:bodyPr/>
                    <a:lstStyle/>
                    <a:p>
                      <a:pPr algn="l">
                        <a:buNone/>
                      </a:pPr>
                      <a:r>
                        <a:rPr sz="1650" b="0">
                          <a:solidFill>
                            <a:srgbClr val="31475D"/>
                          </a:solidFill>
                          <a:latin typeface="Arial Unicode MS"/>
                          <a:ea typeface="Arial Unicode MS"/>
                          <a:cs typeface="Arial Unicode MS"/>
                        </a:rPr>
                        <a:t>Basic access</a:t>
                      </a:r>
                    </a:p>
                    <a:p>
                      <a:pPr algn="l">
                        <a:buNone/>
                      </a:pPr>
                      <a:r>
                        <a:rPr sz="1650" b="0">
                          <a:solidFill>
                            <a:srgbClr val="31475D"/>
                          </a:solidFill>
                          <a:latin typeface="Arial Unicode MS"/>
                          <a:ea typeface="Arial Unicode MS"/>
                          <a:cs typeface="Arial Unicode MS"/>
                        </a:rPr>
                        <a:t>Precise positioning / passive access</a:t>
                      </a:r>
                    </a:p>
                    <a:p>
                      <a:pPr algn="l">
                        <a:buNone/>
                      </a:pPr>
                      <a:r>
                        <a:rPr sz="1650" b="0">
                          <a:solidFill>
                            <a:srgbClr val="31475D"/>
                          </a:solidFill>
                          <a:latin typeface="Arial Unicode MS"/>
                          <a:ea typeface="Arial Unicode MS"/>
                          <a:cs typeface="Arial Unicode MS"/>
                        </a:rPr>
                        <a:t>need added design and validation</a:t>
                      </a:r>
                    </a:p>
                  </a:txBody>
                  <a:tcPr marL="152400" marR="152400" marT="95250" marB="95250">
                    <a:solidFill>
                      <a:srgbClr val="FFFFFF"/>
                    </a:solidFill>
                  </a:tcPr>
                </a:tc>
                <a:extLst>
                  <a:ext uri="{0D108BD9-81ED-4DB2-BD59-A6C34878D82A}">
                    <a16:rowId xmlns:a16="http://schemas.microsoft.com/office/drawing/2014/main" val="10001"/>
                  </a:ext>
                </a:extLst>
              </a:tr>
              <a:tr h="1314450">
                <a:tc>
                  <a:txBody>
                    <a:bodyPr/>
                    <a:lstStyle/>
                    <a:p>
                      <a:pPr algn="l">
                        <a:buNone/>
                      </a:pPr>
                      <a:r>
                        <a:rPr sz="1725" b="1">
                          <a:solidFill>
                            <a:srgbClr val="1C65A6"/>
                          </a:solidFill>
                          <a:latin typeface="Arial Unicode MS"/>
                          <a:ea typeface="Arial Unicode MS"/>
                          <a:cs typeface="Arial Unicode MS"/>
                        </a:rPr>
                        <a:t>NFC + BLE-CS</a:t>
                      </a:r>
                    </a:p>
                    <a:p>
                      <a:pPr algn="l">
                        <a:buNone/>
                      </a:pPr>
                      <a:r>
                        <a:rPr sz="1725" b="1">
                          <a:solidFill>
                            <a:srgbClr val="1C65A6"/>
                          </a:solidFill>
                          <a:latin typeface="Arial Unicode MS"/>
                          <a:ea typeface="Arial Unicode MS"/>
                          <a:cs typeface="Arial Unicode MS"/>
                        </a:rPr>
                        <a:t>BTCS positioning</a:t>
                      </a:r>
                    </a:p>
                  </a:txBody>
                  <a:tcPr marL="152400" marR="152400" marT="95250" marB="95250">
                    <a:solidFill>
                      <a:srgbClr val="FFFFFF"/>
                    </a:solidFill>
                  </a:tcPr>
                </a:tc>
                <a:tc>
                  <a:txBody>
                    <a:bodyPr/>
                    <a:lstStyle/>
                    <a:p>
                      <a:pPr algn="l">
                        <a:buNone/>
                      </a:pPr>
                      <a:r>
                        <a:rPr sz="1650" b="0">
                          <a:solidFill>
                            <a:srgbClr val="31475D"/>
                          </a:solidFill>
                          <a:latin typeface="Arial Unicode MS"/>
                          <a:ea typeface="Arial Unicode MS"/>
                          <a:cs typeface="Arial Unicode MS"/>
                        </a:rPr>
                        <a:t>Distance sensing</a:t>
                      </a:r>
                    </a:p>
                    <a:p>
                      <a:pPr algn="l">
                        <a:buNone/>
                      </a:pPr>
                      <a:r>
                        <a:rPr sz="1650" b="0">
                          <a:solidFill>
                            <a:srgbClr val="31475D"/>
                          </a:solidFill>
                          <a:latin typeface="Arial Unicode MS"/>
                          <a:ea typeface="Arial Unicode MS"/>
                          <a:cs typeface="Arial Unicode MS"/>
                        </a:rPr>
                        <a:t>Approach detection</a:t>
                      </a:r>
                    </a:p>
                    <a:p>
                      <a:pPr algn="l">
                        <a:buNone/>
                      </a:pPr>
                      <a:r>
                        <a:rPr sz="1650" b="0">
                          <a:solidFill>
                            <a:srgbClr val="31475D"/>
                          </a:solidFill>
                          <a:latin typeface="Arial Unicode MS"/>
                          <a:ea typeface="Arial Unicode MS"/>
                          <a:cs typeface="Arial Unicode MS"/>
                        </a:rPr>
                        <a:t>Zone detection</a:t>
                      </a:r>
                    </a:p>
                    <a:p>
                      <a:pPr algn="l">
                        <a:buNone/>
                      </a:pPr>
                      <a:r>
                        <a:rPr sz="1650" b="0">
                          <a:solidFill>
                            <a:srgbClr val="31475D"/>
                          </a:solidFill>
                          <a:latin typeface="Arial Unicode MS"/>
                          <a:ea typeface="Arial Unicode MS"/>
                          <a:cs typeface="Arial Unicode MS"/>
                        </a:rPr>
                        <a:t>(subject to validation)</a:t>
                      </a:r>
                    </a:p>
                  </a:txBody>
                  <a:tcPr marL="152400" marR="152400" marT="95250" marB="95250">
                    <a:solidFill>
                      <a:srgbClr val="FFFFFF"/>
                    </a:solidFill>
                  </a:tcPr>
                </a:tc>
                <a:tc>
                  <a:txBody>
                    <a:bodyPr/>
                    <a:lstStyle/>
                    <a:p>
                      <a:pPr algn="l">
                        <a:buNone/>
                      </a:pPr>
                      <a:r>
                        <a:rPr sz="1650" b="0">
                          <a:solidFill>
                            <a:srgbClr val="31475D"/>
                          </a:solidFill>
                          <a:latin typeface="Arial Unicode MS"/>
                          <a:ea typeface="Arial Unicode MS"/>
                          <a:cs typeface="Arial Unicode MS"/>
                        </a:rPr>
                        <a:t>CS chips, nodes, antennas</a:t>
                      </a:r>
                    </a:p>
                    <a:p>
                      <a:pPr algn="l">
                        <a:buNone/>
                      </a:pPr>
                      <a:r>
                        <a:rPr sz="1650" b="0">
                          <a:solidFill>
                            <a:srgbClr val="31475D"/>
                          </a:solidFill>
                          <a:latin typeface="Arial Unicode MS"/>
                          <a:ea typeface="Arial Unicode MS"/>
                          <a:cs typeface="Arial Unicode MS"/>
                        </a:rPr>
                        <a:t>Wiring, calibration, tests</a:t>
                      </a:r>
                    </a:p>
                    <a:p>
                      <a:pPr algn="l">
                        <a:buNone/>
                      </a:pPr>
                      <a:r>
                        <a:rPr sz="1650" b="0">
                          <a:solidFill>
                            <a:srgbClr val="31475D"/>
                          </a:solidFill>
                          <a:latin typeface="Arial Unicode MS"/>
                          <a:ea typeface="Arial Unicode MS"/>
                          <a:cs typeface="Arial Unicode MS"/>
                        </a:rPr>
                        <a:t>Potential UWB removal</a:t>
                      </a:r>
                    </a:p>
                    <a:p>
                      <a:pPr algn="l">
                        <a:buNone/>
                      </a:pPr>
                      <a:r>
                        <a:rPr sz="1650" b="0">
                          <a:solidFill>
                            <a:srgbClr val="31475D"/>
                          </a:solidFill>
                          <a:latin typeface="Arial Unicode MS"/>
                          <a:ea typeface="Arial Unicode MS"/>
                          <a:cs typeface="Arial Unicode MS"/>
                        </a:rPr>
                        <a:t>Cost follows final design</a:t>
                      </a:r>
                    </a:p>
                  </a:txBody>
                  <a:tcPr marL="152400" marR="152400" marT="95250" marB="95250">
                    <a:solidFill>
                      <a:srgbClr val="FFFFFF"/>
                    </a:solidFill>
                  </a:tcPr>
                </a:tc>
                <a:tc>
                  <a:txBody>
                    <a:bodyPr/>
                    <a:lstStyle/>
                    <a:p>
                      <a:pPr algn="l">
                        <a:buNone/>
                      </a:pPr>
                      <a:r>
                        <a:rPr sz="1650" b="0">
                          <a:solidFill>
                            <a:srgbClr val="31475D"/>
                          </a:solidFill>
                          <a:latin typeface="Arial Unicode MS"/>
                          <a:ea typeface="Arial Unicode MS"/>
                          <a:cs typeface="Arial Unicode MS"/>
                        </a:rPr>
                        <a:t>One node: distance input</a:t>
                      </a:r>
                    </a:p>
                    <a:p>
                      <a:pPr algn="l">
                        <a:buNone/>
                      </a:pPr>
                      <a:r>
                        <a:rPr sz="1650" b="0">
                          <a:solidFill>
                            <a:srgbClr val="31475D"/>
                          </a:solidFill>
                          <a:latin typeface="Arial Unicode MS"/>
                          <a:ea typeface="Arial Unicode MS"/>
                          <a:cs typeface="Arial Unicode MS"/>
                        </a:rPr>
                        <a:t>Zones: more nodes or other inputs</a:t>
                      </a:r>
                    </a:p>
                    <a:p>
                      <a:pPr algn="l">
                        <a:buNone/>
                      </a:pPr>
                      <a:r>
                        <a:rPr sz="1650" b="0">
                          <a:solidFill>
                            <a:srgbClr val="31475D"/>
                          </a:solidFill>
                          <a:latin typeface="Arial Unicode MS"/>
                          <a:ea typeface="Arial Unicode MS"/>
                          <a:cs typeface="Arial Unicode MS"/>
                        </a:rPr>
                        <a:t>Verify foreground, background</a:t>
                      </a:r>
                    </a:p>
                    <a:p>
                      <a:pPr algn="l">
                        <a:buNone/>
                      </a:pPr>
                      <a:r>
                        <a:rPr sz="1650" b="0">
                          <a:solidFill>
                            <a:srgbClr val="31475D"/>
                          </a:solidFill>
                          <a:latin typeface="Arial Unicode MS"/>
                          <a:ea typeface="Arial Unicode MS"/>
                          <a:cs typeface="Arial Unicode MS"/>
                        </a:rPr>
                        <a:t>and locked-screen support</a:t>
                      </a:r>
                    </a:p>
                  </a:txBody>
                  <a:tcPr marL="152400" marR="152400" marT="95250" marB="95250">
                    <a:solidFill>
                      <a:srgbClr val="FFFFFF"/>
                    </a:solidFill>
                  </a:tcPr>
                </a:tc>
                <a:extLst>
                  <a:ext uri="{0D108BD9-81ED-4DB2-BD59-A6C34878D82A}">
                    <a16:rowId xmlns:a16="http://schemas.microsoft.com/office/drawing/2014/main" val="10002"/>
                  </a:ext>
                </a:extLst>
              </a:tr>
              <a:tr h="1162050">
                <a:tc>
                  <a:txBody>
                    <a:bodyPr/>
                    <a:lstStyle/>
                    <a:p>
                      <a:pPr algn="l">
                        <a:buNone/>
                      </a:pPr>
                      <a:r>
                        <a:rPr sz="1725" b="1">
                          <a:solidFill>
                            <a:srgbClr val="1C65A6"/>
                          </a:solidFill>
                          <a:latin typeface="Arial Unicode MS"/>
                          <a:ea typeface="Arial Unicode MS"/>
                          <a:cs typeface="Arial Unicode MS"/>
                        </a:rPr>
                        <a:t>NFC + BLE</a:t>
                      </a:r>
                    </a:p>
                    <a:p>
                      <a:pPr algn="l">
                        <a:buNone/>
                      </a:pPr>
                      <a:r>
                        <a:rPr sz="1725" b="1">
                          <a:solidFill>
                            <a:srgbClr val="1C65A6"/>
                          </a:solidFill>
                          <a:latin typeface="Arial Unicode MS"/>
                          <a:ea typeface="Arial Unicode MS"/>
                          <a:cs typeface="Arial Unicode MS"/>
                        </a:rPr>
                        <a:t>+ UWB</a:t>
                      </a:r>
                    </a:p>
                  </a:txBody>
                  <a:tcPr marL="152400" marR="152400" marT="95250" marB="95250">
                    <a:solidFill>
                      <a:srgbClr val="FFFFFF"/>
                    </a:solidFill>
                  </a:tcPr>
                </a:tc>
                <a:tc>
                  <a:txBody>
                    <a:bodyPr/>
                    <a:lstStyle/>
                    <a:p>
                      <a:pPr algn="l">
                        <a:buNone/>
                      </a:pPr>
                      <a:r>
                        <a:rPr sz="1650" b="0">
                          <a:solidFill>
                            <a:srgbClr val="31475D"/>
                          </a:solidFill>
                          <a:latin typeface="Arial Unicode MS"/>
                          <a:ea typeface="Arial Unicode MS"/>
                          <a:cs typeface="Arial Unicode MS"/>
                        </a:rPr>
                        <a:t>Secure ranging</a:t>
                      </a:r>
                    </a:p>
                    <a:p>
                      <a:pPr algn="l">
                        <a:buNone/>
                      </a:pPr>
                      <a:r>
                        <a:rPr sz="1650" b="0">
                          <a:solidFill>
                            <a:srgbClr val="31475D"/>
                          </a:solidFill>
                          <a:latin typeface="Arial Unicode MS"/>
                          <a:ea typeface="Arial Unicode MS"/>
                          <a:cs typeface="Arial Unicode MS"/>
                        </a:rPr>
                        <a:t>Positioning</a:t>
                      </a:r>
                    </a:p>
                    <a:p>
                      <a:pPr algn="l">
                        <a:buNone/>
                      </a:pPr>
                      <a:r>
                        <a:rPr sz="1650" b="0">
                          <a:solidFill>
                            <a:srgbClr val="31475D"/>
                          </a:solidFill>
                          <a:latin typeface="Arial Unicode MS"/>
                          <a:ea typeface="Arial Unicode MS"/>
                          <a:cs typeface="Arial Unicode MS"/>
                        </a:rPr>
                        <a:t>Passive entry / start</a:t>
                      </a:r>
                    </a:p>
                    <a:p>
                      <a:pPr algn="l">
                        <a:buNone/>
                      </a:pPr>
                      <a:r>
                        <a:rPr sz="1650" b="0">
                          <a:solidFill>
                            <a:srgbClr val="31475D"/>
                          </a:solidFill>
                          <a:latin typeface="Arial Unicode MS"/>
                          <a:ea typeface="Arial Unicode MS"/>
                          <a:cs typeface="Arial Unicode MS"/>
                        </a:rPr>
                        <a:t>where supported</a:t>
                      </a:r>
                    </a:p>
                  </a:txBody>
                  <a:tcPr marL="152400" marR="152400" marT="95250" marB="95250">
                    <a:solidFill>
                      <a:srgbClr val="FFFFFF"/>
                    </a:solidFill>
                  </a:tcPr>
                </a:tc>
                <a:tc>
                  <a:txBody>
                    <a:bodyPr/>
                    <a:lstStyle/>
                    <a:p>
                      <a:pPr algn="l">
                        <a:buNone/>
                      </a:pPr>
                      <a:r>
                        <a:rPr sz="1650" b="0">
                          <a:solidFill>
                            <a:srgbClr val="31475D"/>
                          </a:solidFill>
                          <a:latin typeface="Arial Unicode MS"/>
                          <a:ea typeface="Arial Unicode MS"/>
                          <a:cs typeface="Arial Unicode MS"/>
                        </a:rPr>
                        <a:t>UWB chips and antennas</a:t>
                      </a:r>
                    </a:p>
                    <a:p>
                      <a:pPr algn="l">
                        <a:buNone/>
                      </a:pPr>
                      <a:r>
                        <a:rPr sz="1650" b="0">
                          <a:solidFill>
                            <a:srgbClr val="31475D"/>
                          </a:solidFill>
                          <a:latin typeface="Arial Unicode MS"/>
                          <a:ea typeface="Arial Unicode MS"/>
                          <a:cs typeface="Arial Unicode MS"/>
                        </a:rPr>
                        <a:t>Anchors and calibration</a:t>
                      </a:r>
                    </a:p>
                    <a:p>
                      <a:pPr algn="l">
                        <a:buNone/>
                      </a:pPr>
                      <a:r>
                        <a:rPr sz="1650" b="0">
                          <a:solidFill>
                            <a:srgbClr val="31475D"/>
                          </a:solidFill>
                          <a:latin typeface="Arial Unicode MS"/>
                          <a:ea typeface="Arial Unicode MS"/>
                          <a:cs typeface="Arial Unicode MS"/>
                        </a:rPr>
                        <a:t>Ecosystem integration</a:t>
                      </a:r>
                    </a:p>
                    <a:p>
                      <a:pPr algn="l">
                        <a:buNone/>
                      </a:pPr>
                      <a:r>
                        <a:rPr sz="1650" b="0">
                          <a:solidFill>
                            <a:srgbClr val="31475D"/>
                          </a:solidFill>
                          <a:latin typeface="Arial Unicode MS"/>
                          <a:ea typeface="Arial Unicode MS"/>
                          <a:cs typeface="Arial Unicode MS"/>
                        </a:rPr>
                        <a:t>and testing</a:t>
                      </a:r>
                    </a:p>
                  </a:txBody>
                  <a:tcPr marL="152400" marR="152400" marT="95250" marB="95250">
                    <a:solidFill>
                      <a:srgbClr val="FFFFFF"/>
                    </a:solidFill>
                  </a:tcPr>
                </a:tc>
                <a:tc>
                  <a:txBody>
                    <a:bodyPr/>
                    <a:lstStyle/>
                    <a:p>
                      <a:pPr algn="l">
                        <a:buNone/>
                      </a:pPr>
                      <a:r>
                        <a:rPr sz="1650" b="0">
                          <a:solidFill>
                            <a:srgbClr val="31475D"/>
                          </a:solidFill>
                          <a:latin typeface="Arial Unicode MS"/>
                          <a:ea typeface="Arial Unicode MS"/>
                          <a:cs typeface="Arial Unicode MS"/>
                        </a:rPr>
                        <a:t>Nodes: coverage / redundancy</a:t>
                      </a:r>
                    </a:p>
                    <a:p>
                      <a:pPr algn="l">
                        <a:buNone/>
                      </a:pPr>
                      <a:r>
                        <a:rPr sz="1650" b="0">
                          <a:solidFill>
                            <a:srgbClr val="31475D"/>
                          </a:solidFill>
                          <a:latin typeface="Arial Unicode MS"/>
                          <a:ea typeface="Arial Unicode MS"/>
                          <a:cs typeface="Arial Unicode MS"/>
                        </a:rPr>
                        <a:t>BTCS may assist wake-up</a:t>
                      </a:r>
                    </a:p>
                    <a:p>
                      <a:pPr algn="l">
                        <a:buNone/>
                      </a:pPr>
                      <a:r>
                        <a:rPr sz="1650" b="0">
                          <a:solidFill>
                            <a:srgbClr val="31475D"/>
                          </a:solidFill>
                          <a:latin typeface="Arial Unicode MS"/>
                          <a:ea typeface="Arial Unicode MS"/>
                          <a:cs typeface="Arial Unicode MS"/>
                        </a:rPr>
                        <a:t>where supported</a:t>
                      </a:r>
                    </a:p>
                    <a:p>
                      <a:pPr algn="l">
                        <a:buNone/>
                      </a:pPr>
                      <a:r>
                        <a:rPr sz="1650" b="0">
                          <a:solidFill>
                            <a:srgbClr val="31475D"/>
                          </a:solidFill>
                          <a:latin typeface="Arial Unicode MS"/>
                          <a:ea typeface="Arial Unicode MS"/>
                          <a:cs typeface="Arial Unicode MS"/>
                        </a:rPr>
                        <a:t>Verify phone / ecosystem support</a:t>
                      </a:r>
                    </a:p>
                  </a:txBody>
                  <a:tcPr marL="152400" marR="152400" marT="95250" marB="95250">
                    <a:solidFill>
                      <a:srgbClr val="FFFFFF"/>
                    </a:solidFill>
                  </a:tcPr>
                </a:tc>
                <a:extLst>
                  <a:ext uri="{0D108BD9-81ED-4DB2-BD59-A6C34878D82A}">
                    <a16:rowId xmlns:a16="http://schemas.microsoft.com/office/drawing/2014/main" val="10003"/>
                  </a:ext>
                </a:extLst>
              </a:tr>
            </a:tbl>
          </a:graphicData>
        </a:graphic>
      </p:graphicFrame>
      <p:sp>
        <p:nvSpPr>
          <p:cNvPr id="5" name="Confirm target zones, node layout an">
            <a:extLst>
              <a:ext uri="{FF2B5EF4-FFF2-40B4-BE49-F238E27FC236}">
                <a16:creationId xmlns:a16="http://schemas.microsoft.com/office/drawing/2014/main" id="{7460E940-87F7-4DC1-A29F-6D26392D9251}"/>
              </a:ext>
            </a:extLst>
          </p:cNvPr>
          <p:cNvSpPr>
            <a:spLocks noGrp="1"/>
          </p:cNvSpPr>
          <p:nvPr/>
        </p:nvSpPr>
        <p:spPr>
          <a:xfrm>
            <a:off x="685800" y="5667375"/>
            <a:ext cx="10820400" cy="314325"/>
          </a:xfrm>
          <a:prstGeom prst="rect">
            <a:avLst/>
          </a:prstGeom>
          <a:noFill/>
          <a:ln w="0">
            <a:noFill/>
          </a:ln>
        </p:spPr>
        <p:txBody>
          <a:bodyPr wrap="square" lIns="0" tIns="0" rIns="0" bIns="0" anchor="t">
            <a:noAutofit/>
          </a:bodyPr>
          <a:lstStyle>
            <a:defPPr>
              <a:defRPr sz="1650" b="1">
                <a:solidFill>
                  <a:srgbClr val="152D46"/>
                </a:solidFill>
                <a:latin typeface="Arial Unicode MS"/>
                <a:ea typeface="Arial Unicode MS"/>
                <a:cs typeface="Arial Unicode MS"/>
              </a:defRPr>
            </a:defPPr>
          </a:lstStyle>
          <a:p>
            <a:pPr>
              <a:buNone/>
              <a:defRPr sz="1650" b="1">
                <a:solidFill>
                  <a:srgbClr val="152D46"/>
                </a:solidFill>
                <a:latin typeface="Arial Unicode MS"/>
                <a:ea typeface="Arial Unicode MS"/>
                <a:cs typeface="Arial Unicode MS"/>
              </a:defRPr>
            </a:pPr>
            <a:r>
              <a:rPr sz="1650" b="1">
                <a:solidFill>
                  <a:srgbClr val="152D46"/>
                </a:solidFill>
                <a:latin typeface="Arial Unicode MS"/>
                <a:ea typeface="Arial Unicode MS"/>
                <a:cs typeface="Arial Unicode MS"/>
              </a:rPr>
              <a:t>Confirm target zones, node layout and phone behavior in foreground, background and lock screen.</a:t>
            </a:r>
          </a:p>
        </p:txBody>
      </p:sp>
      <p:sp>
        <p:nvSpPr>
          <p:cNvPr id="6" name="Cost scope: full vehicle BOM, softwa">
            <a:extLst>
              <a:ext uri="{FF2B5EF4-FFF2-40B4-BE49-F238E27FC236}">
                <a16:creationId xmlns:a16="http://schemas.microsoft.com/office/drawing/2014/main" id="{D12E5CA0-B4DD-42C0-A287-6D3A397FDD8A}"/>
              </a:ext>
            </a:extLst>
          </p:cNvPr>
          <p:cNvSpPr>
            <a:spLocks noGrp="1"/>
          </p:cNvSpPr>
          <p:nvPr/>
        </p:nvSpPr>
        <p:spPr>
          <a:xfrm>
            <a:off x="685800" y="6000750"/>
            <a:ext cx="10820400" cy="304800"/>
          </a:xfrm>
          <a:prstGeom prst="rect">
            <a:avLst/>
          </a:prstGeom>
          <a:noFill/>
          <a:ln w="0">
            <a:noFill/>
          </a:ln>
        </p:spPr>
        <p:txBody>
          <a:bodyPr wrap="square" lIns="0" tIns="0" rIns="0" bIns="0" anchor="t">
            <a:noAutofit/>
          </a:bodyPr>
          <a:lstStyle>
            <a:defPPr>
              <a:defRPr sz="1650">
                <a:solidFill>
                  <a:srgbClr val="31475D"/>
                </a:solidFill>
                <a:latin typeface="Arial Unicode MS"/>
                <a:ea typeface="Arial Unicode MS"/>
                <a:cs typeface="Arial Unicode MS"/>
              </a:defRPr>
            </a:defPPr>
          </a:lstStyle>
          <a:p>
            <a:pPr>
              <a:buNone/>
              <a:defRPr sz="1650">
                <a:solidFill>
                  <a:srgbClr val="31475D"/>
                </a:solidFill>
                <a:latin typeface="Arial Unicode MS"/>
                <a:ea typeface="Arial Unicode MS"/>
                <a:cs typeface="Arial Unicode MS"/>
              </a:defRPr>
            </a:pPr>
            <a:r>
              <a:rPr sz="1650">
                <a:solidFill>
                  <a:srgbClr val="31475D"/>
                </a:solidFill>
                <a:latin typeface="Arial Unicode MS"/>
                <a:ea typeface="Arial Unicode MS"/>
                <a:cs typeface="Arial Unicode MS"/>
              </a:rPr>
              <a:t>Cost scope: full vehicle BOM, software integration, calibration, certification and testing.</a:t>
            </a:r>
          </a:p>
        </p:txBody>
      </p:sp>
      <p:sp>
        <p:nvSpPr>
          <p:cNvPr id="7" name="Protocol and hardware are separate c">
            <a:extLst>
              <a:ext uri="{FF2B5EF4-FFF2-40B4-BE49-F238E27FC236}">
                <a16:creationId xmlns:a16="http://schemas.microsoft.com/office/drawing/2014/main" id="{19FB13F8-4B8B-48E9-8D8C-3293914B64AD}"/>
              </a:ext>
            </a:extLst>
          </p:cNvPr>
          <p:cNvSpPr>
            <a:spLocks noGrp="1"/>
          </p:cNvSpPr>
          <p:nvPr/>
        </p:nvSpPr>
        <p:spPr>
          <a:xfrm>
            <a:off x="685800" y="6343650"/>
            <a:ext cx="10820400" cy="266700"/>
          </a:xfrm>
          <a:prstGeom prst="rect">
            <a:avLst/>
          </a:prstGeom>
          <a:noFill/>
          <a:ln w="0">
            <a:noFill/>
          </a:ln>
        </p:spPr>
        <p:txBody>
          <a:bodyPr wrap="square" lIns="0" tIns="0" rIns="0" bIns="0" anchor="t">
            <a:noAutofit/>
          </a:bodyPr>
          <a:lstStyle>
            <a:defPPr>
              <a:defRPr sz="1463">
                <a:solidFill>
                  <a:srgbClr val="5F7184"/>
                </a:solidFill>
                <a:latin typeface="Arial Unicode MS"/>
                <a:ea typeface="Arial Unicode MS"/>
                <a:cs typeface="Arial Unicode MS"/>
              </a:defRPr>
            </a:defPPr>
          </a:lstStyle>
          <a:p>
            <a:pPr>
              <a:buNone/>
              <a:defRPr sz="1463">
                <a:solidFill>
                  <a:srgbClr val="5F7184"/>
                </a:solidFill>
                <a:latin typeface="Arial Unicode MS"/>
                <a:ea typeface="Arial Unicode MS"/>
                <a:cs typeface="Arial Unicode MS"/>
              </a:defRPr>
            </a:pPr>
            <a:r>
              <a:rPr sz="1463">
                <a:solidFill>
                  <a:srgbClr val="5F7184"/>
                </a:solidFill>
                <a:latin typeface="Arial Unicode MS"/>
                <a:ea typeface="Arial Unicode MS"/>
                <a:cs typeface="Arial Unicode MS"/>
              </a:rPr>
              <a:t>Protocol and hardware are separate choices. CCC can use NFC + BLE. WCC3 passive entry / start requires UWB.</a:t>
            </a:r>
          </a:p>
        </p:txBody>
      </p:sp>
    </p:spTree>
    <p:extLst>
      <p:ext uri="{BB962C8B-B14F-4D97-AF65-F5344CB8AC3E}">
        <p14:creationId xmlns:p14="http://schemas.microsoft.com/office/powerpoint/2010/main" val="19843193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BTCS Across Non-CCC and CCC Routes">
            <a:extLst>
              <a:ext uri="{FF2B5EF4-FFF2-40B4-BE49-F238E27FC236}">
                <a16:creationId xmlns:a16="http://schemas.microsoft.com/office/drawing/2014/main" id="{4E4AF7C0-3AAC-4959-AD53-BF767FA91108}"/>
              </a:ext>
            </a:extLst>
          </p:cNvPr>
          <p:cNvSpPr>
            <a:spLocks noGrp="1"/>
          </p:cNvSpPr>
          <p:nvPr/>
        </p:nvSpPr>
        <p:spPr>
          <a:xfrm>
            <a:off x="685800" y="381000"/>
            <a:ext cx="10820400" cy="609600"/>
          </a:xfrm>
          <a:prstGeom prst="rect">
            <a:avLst/>
          </a:prstGeom>
          <a:noFill/>
          <a:ln w="0">
            <a:noFill/>
          </a:ln>
        </p:spPr>
        <p:txBody>
          <a:bodyPr wrap="square" lIns="0" tIns="0" rIns="0" bIns="0" anchor="t">
            <a:noAutofit/>
          </a:bodyPr>
          <a:lstStyle>
            <a:defPPr>
              <a:defRPr sz="3450" b="1">
                <a:solidFill>
                  <a:srgbClr val="152D46"/>
                </a:solidFill>
                <a:latin typeface="Arial Unicode MS"/>
                <a:ea typeface="Arial Unicode MS"/>
                <a:cs typeface="Arial Unicode MS"/>
              </a:defRPr>
            </a:defPPr>
          </a:lstStyle>
          <a:p>
            <a:pPr>
              <a:buNone/>
              <a:defRPr sz="3450" b="1">
                <a:solidFill>
                  <a:srgbClr val="152D46"/>
                </a:solidFill>
                <a:latin typeface="Arial Unicode MS"/>
                <a:ea typeface="Arial Unicode MS"/>
                <a:cs typeface="Arial Unicode MS"/>
              </a:defRPr>
            </a:pPr>
            <a:r>
              <a:rPr sz="3450" b="1">
                <a:solidFill>
                  <a:srgbClr val="152D46"/>
                </a:solidFill>
                <a:latin typeface="Arial Unicode MS"/>
                <a:ea typeface="Arial Unicode MS"/>
                <a:cs typeface="Arial Unicode MS"/>
              </a:rPr>
              <a:t>BTCS Across Non-CCC and CCC Routes</a:t>
            </a:r>
          </a:p>
        </p:txBody>
      </p:sp>
      <p:sp>
        <p:nvSpPr>
          <p:cNvPr id="2" name="The current demo validates non-CCC p">
            <a:extLst>
              <a:ext uri="{FF2B5EF4-FFF2-40B4-BE49-F238E27FC236}">
                <a16:creationId xmlns:a16="http://schemas.microsoft.com/office/drawing/2014/main" id="{F5F3343D-1BBE-493D-B488-8F2DC5BCEE21}"/>
              </a:ext>
            </a:extLst>
          </p:cNvPr>
          <p:cNvSpPr>
            <a:spLocks noGrp="1"/>
          </p:cNvSpPr>
          <p:nvPr/>
        </p:nvSpPr>
        <p:spPr>
          <a:xfrm>
            <a:off x="685800" y="1057275"/>
            <a:ext cx="10820400" cy="400050"/>
          </a:xfrm>
          <a:prstGeom prst="rect">
            <a:avLst/>
          </a:prstGeom>
          <a:noFill/>
          <a:ln w="0">
            <a:noFill/>
          </a:ln>
        </p:spPr>
        <p:txBody>
          <a:bodyPr wrap="square" lIns="0" tIns="0" rIns="0" bIns="0" anchor="t">
            <a:noAutofit/>
          </a:bodyPr>
          <a:lstStyle>
            <a:defPPr>
              <a:defRPr sz="1950">
                <a:solidFill>
                  <a:srgbClr val="1C65A6"/>
                </a:solidFill>
                <a:latin typeface="Arial Unicode MS"/>
                <a:ea typeface="Arial Unicode MS"/>
                <a:cs typeface="Arial Unicode MS"/>
              </a:defRPr>
            </a:defPPr>
          </a:lstStyle>
          <a:p>
            <a:pPr>
              <a:buNone/>
              <a:defRPr sz="1950">
                <a:solidFill>
                  <a:srgbClr val="1C65A6"/>
                </a:solidFill>
                <a:latin typeface="Arial Unicode MS"/>
                <a:ea typeface="Arial Unicode MS"/>
                <a:cs typeface="Arial Unicode MS"/>
              </a:defRPr>
            </a:pPr>
            <a:r>
              <a:rPr sz="1950">
                <a:solidFill>
                  <a:srgbClr val="1C65A6"/>
                </a:solidFill>
                <a:latin typeface="Arial Unicode MS"/>
                <a:ea typeface="Arial Unicode MS"/>
                <a:cs typeface="Arial Unicode MS"/>
              </a:rPr>
              <a:t>The current demo validates non-CCC positioning. BTCS can also operate within CCC.</a:t>
            </a:r>
          </a:p>
        </p:txBody>
      </p:sp>
      <p:sp>
        <p:nvSpPr>
          <p:cNvPr id="3" name="3 / 3">
            <a:extLst>
              <a:ext uri="{FF2B5EF4-FFF2-40B4-BE49-F238E27FC236}">
                <a16:creationId xmlns:a16="http://schemas.microsoft.com/office/drawing/2014/main" id="{0734CA0C-0DC3-4242-B1A0-9EF0DB9431E6}"/>
              </a:ext>
            </a:extLst>
          </p:cNvPr>
          <p:cNvSpPr>
            <a:spLocks noGrp="1"/>
          </p:cNvSpPr>
          <p:nvPr/>
        </p:nvSpPr>
        <p:spPr>
          <a:xfrm>
            <a:off x="10668000" y="6572250"/>
            <a:ext cx="838200" cy="200025"/>
          </a:xfrm>
          <a:prstGeom prst="rect">
            <a:avLst/>
          </a:prstGeom>
          <a:noFill/>
          <a:ln w="0">
            <a:noFill/>
          </a:ln>
        </p:spPr>
        <p:txBody>
          <a:bodyPr wrap="square" lIns="0" tIns="0" rIns="0" bIns="0" anchor="t">
            <a:noAutofit/>
          </a:bodyPr>
          <a:lstStyle>
            <a:defPPr algn="r">
              <a:defRPr sz="1125">
                <a:solidFill>
                  <a:srgbClr val="5F7184"/>
                </a:solidFill>
                <a:latin typeface="Arial Unicode MS"/>
                <a:ea typeface="Arial Unicode MS"/>
                <a:cs typeface="Arial Unicode MS"/>
              </a:defRPr>
            </a:defPPr>
          </a:lstStyle>
          <a:p>
            <a:pPr algn="r">
              <a:buNone/>
              <a:defRPr sz="1125">
                <a:solidFill>
                  <a:srgbClr val="5F7184"/>
                </a:solidFill>
                <a:latin typeface="Arial Unicode MS"/>
                <a:ea typeface="Arial Unicode MS"/>
                <a:cs typeface="Arial Unicode MS"/>
              </a:defRPr>
            </a:pPr>
            <a:r>
              <a:rPr sz="1125">
                <a:solidFill>
                  <a:srgbClr val="5F7184"/>
                </a:solidFill>
                <a:latin typeface="Arial Unicode MS"/>
                <a:ea typeface="Arial Unicode MS"/>
                <a:cs typeface="Arial Unicode MS"/>
              </a:rPr>
              <a:t>3 / 3</a:t>
            </a:r>
          </a:p>
        </p:txBody>
      </p:sp>
      <p:sp>
        <p:nvSpPr>
          <p:cNvPr id="4" name="Non-CCC Route">
            <a:extLst>
              <a:ext uri="{FF2B5EF4-FFF2-40B4-BE49-F238E27FC236}">
                <a16:creationId xmlns:a16="http://schemas.microsoft.com/office/drawing/2014/main" id="{E38F3463-9921-4315-94F1-4C32DEBB7886}"/>
              </a:ext>
            </a:extLst>
          </p:cNvPr>
          <p:cNvSpPr>
            <a:spLocks noGrp="1"/>
          </p:cNvSpPr>
          <p:nvPr/>
        </p:nvSpPr>
        <p:spPr>
          <a:xfrm>
            <a:off x="685800" y="1809750"/>
            <a:ext cx="2076450" cy="409575"/>
          </a:xfrm>
          <a:prstGeom prst="rect">
            <a:avLst/>
          </a:prstGeom>
          <a:noFill/>
          <a:ln w="0">
            <a:noFill/>
          </a:ln>
        </p:spPr>
        <p:txBody>
          <a:bodyPr wrap="square" lIns="0" tIns="0" rIns="0" bIns="0" anchor="t">
            <a:noAutofit/>
          </a:bodyPr>
          <a:lstStyle>
            <a:defPPr>
              <a:defRPr sz="2025" b="1">
                <a:solidFill>
                  <a:srgbClr val="1C65A6"/>
                </a:solidFill>
                <a:latin typeface="Arial Unicode MS"/>
                <a:ea typeface="Arial Unicode MS"/>
                <a:cs typeface="Arial Unicode MS"/>
              </a:defRPr>
            </a:defPPr>
          </a:lstStyle>
          <a:p>
            <a:pPr>
              <a:buNone/>
              <a:defRPr sz="2025" b="1">
                <a:solidFill>
                  <a:srgbClr val="1C65A6"/>
                </a:solidFill>
                <a:latin typeface="Arial Unicode MS"/>
                <a:ea typeface="Arial Unicode MS"/>
                <a:cs typeface="Arial Unicode MS"/>
              </a:defRPr>
            </a:pPr>
            <a:r>
              <a:rPr sz="2025" b="1">
                <a:solidFill>
                  <a:srgbClr val="1C65A6"/>
                </a:solidFill>
                <a:latin typeface="Arial Unicode MS"/>
                <a:ea typeface="Arial Unicode MS"/>
                <a:cs typeface="Arial Unicode MS"/>
              </a:rPr>
              <a:t>Non-CCC Route</a:t>
            </a:r>
          </a:p>
        </p:txBody>
      </p:sp>
      <p:sp>
        <p:nvSpPr>
          <p:cNvPr id="5" name="Provides ranging and positioning for">
            <a:extLst>
              <a:ext uri="{FF2B5EF4-FFF2-40B4-BE49-F238E27FC236}">
                <a16:creationId xmlns:a16="http://schemas.microsoft.com/office/drawing/2014/main" id="{742B5D49-A6AF-48F4-AD19-B5CBD211F456}"/>
              </a:ext>
            </a:extLst>
          </p:cNvPr>
          <p:cNvSpPr>
            <a:spLocks noGrp="1"/>
          </p:cNvSpPr>
          <p:nvPr/>
        </p:nvSpPr>
        <p:spPr>
          <a:xfrm>
            <a:off x="2952750" y="1809750"/>
            <a:ext cx="8553450" cy="838200"/>
          </a:xfrm>
          <a:prstGeom prst="rect">
            <a:avLst/>
          </a:prstGeom>
          <a:noFill/>
          <a:ln w="0">
            <a:noFill/>
          </a:ln>
        </p:spPr>
        <p:txBody>
          <a:bodyPr wrap="square" lIns="0" tIns="0" rIns="0" bIns="0" anchor="t">
            <a:noAutofit/>
          </a:bodyPr>
          <a:lstStyle>
            <a:defPPr>
              <a:defRPr sz="1875">
                <a:solidFill>
                  <a:srgbClr val="31475D"/>
                </a:solidFill>
                <a:latin typeface="Arial Unicode MS"/>
                <a:ea typeface="Arial Unicode MS"/>
                <a:cs typeface="Arial Unicode MS"/>
              </a:defRPr>
            </a:defPPr>
          </a:lstStyle>
          <a:p>
            <a:pPr>
              <a:buNone/>
              <a:defRPr sz="1875">
                <a:solidFill>
                  <a:srgbClr val="31475D"/>
                </a:solidFill>
                <a:latin typeface="Arial Unicode MS"/>
                <a:ea typeface="Arial Unicode MS"/>
                <a:cs typeface="Arial Unicode MS"/>
              </a:defRPr>
            </a:pPr>
            <a:r>
              <a:rPr sz="1875">
                <a:solidFill>
                  <a:srgbClr val="31475D"/>
                </a:solidFill>
                <a:latin typeface="Arial Unicode MS"/>
                <a:ea typeface="Arial Unicode MS"/>
                <a:cs typeface="Arial Unicode MS"/>
              </a:rPr>
              <a:t>Provides ranging and positioning for the selected configuration.</a:t>
            </a:r>
          </a:p>
          <a:p>
            <a:pPr>
              <a:buNone/>
              <a:defRPr sz="1875">
                <a:solidFill>
                  <a:srgbClr val="31475D"/>
                </a:solidFill>
                <a:latin typeface="Arial Unicode MS"/>
                <a:ea typeface="Arial Unicode MS"/>
                <a:cs typeface="Arial Unicode MS"/>
              </a:defRPr>
            </a:pPr>
            <a:r>
              <a:rPr sz="1875">
                <a:solidFill>
                  <a:srgbClr val="31475D"/>
                </a:solidFill>
                <a:latin typeface="Arial Unicode MS"/>
                <a:ea typeface="Arial Unicode MS"/>
                <a:cs typeface="Arial Unicode MS"/>
              </a:rPr>
              <a:t>Node placement and algorithms support distance, zone and approach detection.</a:t>
            </a:r>
          </a:p>
        </p:txBody>
      </p:sp>
      <p:sp>
        <p:nvSpPr>
          <p:cNvPr id="6" name="CCC Route">
            <a:extLst>
              <a:ext uri="{FF2B5EF4-FFF2-40B4-BE49-F238E27FC236}">
                <a16:creationId xmlns:a16="http://schemas.microsoft.com/office/drawing/2014/main" id="{F4F72F76-FD04-4946-872A-88EAE8F6BE3E}"/>
              </a:ext>
            </a:extLst>
          </p:cNvPr>
          <p:cNvSpPr>
            <a:spLocks noGrp="1"/>
          </p:cNvSpPr>
          <p:nvPr/>
        </p:nvSpPr>
        <p:spPr>
          <a:xfrm>
            <a:off x="685800" y="2981325"/>
            <a:ext cx="2076450" cy="409575"/>
          </a:xfrm>
          <a:prstGeom prst="rect">
            <a:avLst/>
          </a:prstGeom>
          <a:noFill/>
          <a:ln w="0">
            <a:noFill/>
          </a:ln>
        </p:spPr>
        <p:txBody>
          <a:bodyPr wrap="square" lIns="0" tIns="0" rIns="0" bIns="0" anchor="t">
            <a:noAutofit/>
          </a:bodyPr>
          <a:lstStyle>
            <a:defPPr>
              <a:defRPr sz="2025" b="1">
                <a:solidFill>
                  <a:srgbClr val="1C65A6"/>
                </a:solidFill>
                <a:latin typeface="Arial Unicode MS"/>
                <a:ea typeface="Arial Unicode MS"/>
                <a:cs typeface="Arial Unicode MS"/>
              </a:defRPr>
            </a:defPPr>
          </a:lstStyle>
          <a:p>
            <a:pPr>
              <a:buNone/>
              <a:defRPr sz="2025" b="1">
                <a:solidFill>
                  <a:srgbClr val="1C65A6"/>
                </a:solidFill>
                <a:latin typeface="Arial Unicode MS"/>
                <a:ea typeface="Arial Unicode MS"/>
                <a:cs typeface="Arial Unicode MS"/>
              </a:defRPr>
            </a:pPr>
            <a:r>
              <a:rPr sz="2025" b="1">
                <a:solidFill>
                  <a:srgbClr val="1C65A6"/>
                </a:solidFill>
                <a:latin typeface="Arial Unicode MS"/>
                <a:ea typeface="Arial Unicode MS"/>
                <a:cs typeface="Arial Unicode MS"/>
              </a:rPr>
              <a:t>CCC Route</a:t>
            </a:r>
          </a:p>
        </p:txBody>
      </p:sp>
      <p:sp>
        <p:nvSpPr>
          <p:cNvPr id="7" name="CCC 4.1 includes optional BTCS suppo">
            <a:extLst>
              <a:ext uri="{FF2B5EF4-FFF2-40B4-BE49-F238E27FC236}">
                <a16:creationId xmlns:a16="http://schemas.microsoft.com/office/drawing/2014/main" id="{6A8ABAE7-19BD-42BA-AEFE-3E854CE372E1}"/>
              </a:ext>
            </a:extLst>
          </p:cNvPr>
          <p:cNvSpPr>
            <a:spLocks noGrp="1"/>
          </p:cNvSpPr>
          <p:nvPr/>
        </p:nvSpPr>
        <p:spPr>
          <a:xfrm>
            <a:off x="2952750" y="2981325"/>
            <a:ext cx="8553450" cy="1200150"/>
          </a:xfrm>
          <a:prstGeom prst="rect">
            <a:avLst/>
          </a:prstGeom>
          <a:noFill/>
          <a:ln w="0">
            <a:noFill/>
          </a:ln>
        </p:spPr>
        <p:txBody>
          <a:bodyPr wrap="square" lIns="0" tIns="0" rIns="0" bIns="0" anchor="t">
            <a:noAutofit/>
          </a:bodyPr>
          <a:lstStyle>
            <a:defPPr>
              <a:defRPr sz="1875">
                <a:solidFill>
                  <a:srgbClr val="31475D"/>
                </a:solidFill>
                <a:latin typeface="Arial Unicode MS"/>
                <a:ea typeface="Arial Unicode MS"/>
                <a:cs typeface="Arial Unicode MS"/>
              </a:defRPr>
            </a:defPPr>
          </a:lstStyle>
          <a:p>
            <a:pPr>
              <a:buNone/>
              <a:defRPr sz="1875">
                <a:solidFill>
                  <a:srgbClr val="31475D"/>
                </a:solidFill>
                <a:latin typeface="Arial Unicode MS"/>
                <a:ea typeface="Arial Unicode MS"/>
                <a:cs typeface="Arial Unicode MS"/>
              </a:defRPr>
            </a:pPr>
            <a:r>
              <a:rPr sz="1875">
                <a:solidFill>
                  <a:srgbClr val="31475D"/>
                </a:solidFill>
                <a:latin typeface="Arial Unicode MS"/>
                <a:ea typeface="Arial Unicode MS"/>
                <a:cs typeface="Arial Unicode MS"/>
              </a:rPr>
              <a:t>CCC 4.1 includes optional BTCS support.</a:t>
            </a:r>
          </a:p>
          <a:p>
            <a:pPr>
              <a:buNone/>
              <a:defRPr sz="1875">
                <a:solidFill>
                  <a:srgbClr val="31475D"/>
                </a:solidFill>
                <a:latin typeface="Arial Unicode MS"/>
                <a:ea typeface="Arial Unicode MS"/>
                <a:cs typeface="Arial Unicode MS"/>
              </a:defRPr>
            </a:pPr>
            <a:r>
              <a:rPr sz="1875">
                <a:solidFill>
                  <a:srgbClr val="31475D"/>
                </a:solidFill>
                <a:latin typeface="Arial Unicode MS"/>
                <a:ea typeface="Arial Unicode MS"/>
                <a:cs typeface="Arial Unicode MS"/>
              </a:rPr>
              <a:t>Both phone and vehicle must support BTCS and the required protocol flow.</a:t>
            </a:r>
          </a:p>
          <a:p>
            <a:pPr>
              <a:buNone/>
              <a:defRPr sz="1875">
                <a:solidFill>
                  <a:srgbClr val="31475D"/>
                </a:solidFill>
                <a:latin typeface="Arial Unicode MS"/>
                <a:ea typeface="Arial Unicode MS"/>
                <a:cs typeface="Arial Unicode MS"/>
              </a:defRPr>
            </a:pPr>
            <a:r>
              <a:rPr sz="1875">
                <a:solidFill>
                  <a:srgbClr val="31475D"/>
                </a:solidFill>
                <a:latin typeface="Arial Unicode MS"/>
                <a:ea typeface="Arial Unicode MS"/>
                <a:cs typeface="Arial Unicode MS"/>
              </a:rPr>
              <a:t>BTCS can assist approach-intent detection and system wake-up.</a:t>
            </a:r>
          </a:p>
        </p:txBody>
      </p:sp>
      <p:sp>
        <p:nvSpPr>
          <p:cNvPr id="8" name="Combined Delivery">
            <a:extLst>
              <a:ext uri="{FF2B5EF4-FFF2-40B4-BE49-F238E27FC236}">
                <a16:creationId xmlns:a16="http://schemas.microsoft.com/office/drawing/2014/main" id="{2EEC57CC-F090-49F0-A62C-EE6DC5B9B512}"/>
              </a:ext>
            </a:extLst>
          </p:cNvPr>
          <p:cNvSpPr>
            <a:spLocks noGrp="1"/>
          </p:cNvSpPr>
          <p:nvPr/>
        </p:nvSpPr>
        <p:spPr>
          <a:xfrm>
            <a:off x="685800" y="4419600"/>
            <a:ext cx="2076450" cy="409575"/>
          </a:xfrm>
          <a:prstGeom prst="rect">
            <a:avLst/>
          </a:prstGeom>
          <a:noFill/>
          <a:ln w="0">
            <a:noFill/>
          </a:ln>
        </p:spPr>
        <p:txBody>
          <a:bodyPr wrap="square" lIns="0" tIns="0" rIns="0" bIns="0" anchor="t">
            <a:noAutofit/>
          </a:bodyPr>
          <a:lstStyle>
            <a:defPPr>
              <a:defRPr sz="1875" b="1">
                <a:solidFill>
                  <a:srgbClr val="1C65A6"/>
                </a:solidFill>
                <a:latin typeface="Arial Unicode MS"/>
                <a:ea typeface="Arial Unicode MS"/>
                <a:cs typeface="Arial Unicode MS"/>
              </a:defRPr>
            </a:defPPr>
          </a:lstStyle>
          <a:p>
            <a:pPr>
              <a:buNone/>
              <a:defRPr sz="1875" b="1">
                <a:solidFill>
                  <a:srgbClr val="1C65A6"/>
                </a:solidFill>
                <a:latin typeface="Arial Unicode MS"/>
                <a:ea typeface="Arial Unicode MS"/>
                <a:cs typeface="Arial Unicode MS"/>
              </a:defRPr>
            </a:pPr>
            <a:r>
              <a:rPr sz="1875" b="1">
                <a:solidFill>
                  <a:srgbClr val="1C65A6"/>
                </a:solidFill>
                <a:latin typeface="Arial Unicode MS"/>
                <a:ea typeface="Arial Unicode MS"/>
                <a:cs typeface="Arial Unicode MS"/>
              </a:rPr>
              <a:t>Combined Delivery</a:t>
            </a:r>
          </a:p>
        </p:txBody>
      </p:sp>
      <p:sp>
        <p:nvSpPr>
          <p:cNvPr id="9" name="Combine radios for the access path, ">
            <a:extLst>
              <a:ext uri="{FF2B5EF4-FFF2-40B4-BE49-F238E27FC236}">
                <a16:creationId xmlns:a16="http://schemas.microsoft.com/office/drawing/2014/main" id="{0DBC1325-0EDD-4A50-AA8D-CD9D84A0FCBD}"/>
              </a:ext>
            </a:extLst>
          </p:cNvPr>
          <p:cNvSpPr>
            <a:spLocks noGrp="1"/>
          </p:cNvSpPr>
          <p:nvPr/>
        </p:nvSpPr>
        <p:spPr>
          <a:xfrm>
            <a:off x="2952750" y="4419600"/>
            <a:ext cx="8553450" cy="800100"/>
          </a:xfrm>
          <a:prstGeom prst="rect">
            <a:avLst/>
          </a:prstGeom>
          <a:noFill/>
          <a:ln w="0">
            <a:noFill/>
          </a:ln>
        </p:spPr>
        <p:txBody>
          <a:bodyPr wrap="square" lIns="0" tIns="0" rIns="0" bIns="0" anchor="t">
            <a:noAutofit/>
          </a:bodyPr>
          <a:lstStyle>
            <a:defPPr>
              <a:defRPr sz="1875">
                <a:solidFill>
                  <a:srgbClr val="31475D"/>
                </a:solidFill>
                <a:latin typeface="Arial Unicode MS"/>
                <a:ea typeface="Arial Unicode MS"/>
                <a:cs typeface="Arial Unicode MS"/>
              </a:defRPr>
            </a:defPPr>
          </a:lstStyle>
          <a:p>
            <a:pPr>
              <a:buNone/>
              <a:defRPr sz="1875">
                <a:solidFill>
                  <a:srgbClr val="31475D"/>
                </a:solidFill>
                <a:latin typeface="Arial Unicode MS"/>
                <a:ea typeface="Arial Unicode MS"/>
                <a:cs typeface="Arial Unicode MS"/>
              </a:defRPr>
            </a:pPr>
            <a:r>
              <a:rPr sz="1875">
                <a:solidFill>
                  <a:srgbClr val="31475D"/>
                </a:solidFill>
                <a:latin typeface="Arial Unicode MS"/>
                <a:ea typeface="Arial Unicode MS"/>
                <a:cs typeface="Arial Unicode MS"/>
              </a:rPr>
              <a:t>Combine radios for the access path, device support and vehicle configuration.</a:t>
            </a:r>
          </a:p>
          <a:p>
            <a:pPr>
              <a:buNone/>
              <a:defRPr sz="1875">
                <a:solidFill>
                  <a:srgbClr val="31475D"/>
                </a:solidFill>
                <a:latin typeface="Arial Unicode MS"/>
                <a:ea typeface="Arial Unicode MS"/>
                <a:cs typeface="Arial Unicode MS"/>
              </a:defRPr>
            </a:pPr>
            <a:r>
              <a:rPr sz="1875">
                <a:solidFill>
                  <a:srgbClr val="31475D"/>
                </a:solidFill>
                <a:latin typeface="Arial Unicode MS"/>
                <a:ea typeface="Arial Unicode MS"/>
                <a:cs typeface="Arial Unicode MS"/>
              </a:rPr>
              <a:t>NFC, BLE, BTCS and UWB support app and wallet experiences.</a:t>
            </a:r>
          </a:p>
        </p:txBody>
      </p:sp>
      <p:sp>
        <p:nvSpPr>
          <p:cNvPr id="10" name="Vehicle actions depend on valid key ">
            <a:extLst>
              <a:ext uri="{FF2B5EF4-FFF2-40B4-BE49-F238E27FC236}">
                <a16:creationId xmlns:a16="http://schemas.microsoft.com/office/drawing/2014/main" id="{7386011C-DC4E-4CAF-859B-FF583815925E}"/>
              </a:ext>
            </a:extLst>
          </p:cNvPr>
          <p:cNvSpPr>
            <a:spLocks noGrp="1"/>
          </p:cNvSpPr>
          <p:nvPr/>
        </p:nvSpPr>
        <p:spPr>
          <a:xfrm>
            <a:off x="685800" y="5400675"/>
            <a:ext cx="10820400" cy="304800"/>
          </a:xfrm>
          <a:prstGeom prst="rect">
            <a:avLst/>
          </a:prstGeom>
          <a:noFill/>
          <a:ln w="0">
            <a:noFill/>
          </a:ln>
        </p:spPr>
        <p:txBody>
          <a:bodyPr wrap="square" lIns="0" tIns="0" rIns="0" bIns="0" anchor="t">
            <a:noAutofit/>
          </a:bodyPr>
          <a:lstStyle>
            <a:defPPr>
              <a:defRPr sz="1650">
                <a:solidFill>
                  <a:srgbClr val="152D46"/>
                </a:solidFill>
                <a:latin typeface="Arial Unicode MS"/>
                <a:ea typeface="Arial Unicode MS"/>
                <a:cs typeface="Arial Unicode MS"/>
              </a:defRPr>
            </a:defPPr>
          </a:lstStyle>
          <a:p>
            <a:pPr>
              <a:buNone/>
              <a:defRPr sz="1650">
                <a:solidFill>
                  <a:srgbClr val="152D46"/>
                </a:solidFill>
                <a:latin typeface="Arial Unicode MS"/>
                <a:ea typeface="Arial Unicode MS"/>
                <a:cs typeface="Arial Unicode MS"/>
              </a:defRPr>
            </a:pPr>
            <a:r>
              <a:rPr sz="1650">
                <a:solidFill>
                  <a:srgbClr val="152D46"/>
                </a:solidFill>
                <a:latin typeface="Arial Unicode MS"/>
                <a:ea typeface="Arial Unicode MS"/>
                <a:cs typeface="Arial Unicode MS"/>
              </a:rPr>
              <a:t>Vehicle actions depend on valid key permissions, security policies and position conditions.</a:t>
            </a:r>
          </a:p>
        </p:txBody>
      </p:sp>
      <p:sp>
        <p:nvSpPr>
          <p:cNvPr id="11" name="Acceptance: phone coverage, operatin">
            <a:extLst>
              <a:ext uri="{FF2B5EF4-FFF2-40B4-BE49-F238E27FC236}">
                <a16:creationId xmlns:a16="http://schemas.microsoft.com/office/drawing/2014/main" id="{D6041505-ADB2-441B-9FF7-F26EC5B2003D}"/>
              </a:ext>
            </a:extLst>
          </p:cNvPr>
          <p:cNvSpPr>
            <a:spLocks noGrp="1"/>
          </p:cNvSpPr>
          <p:nvPr/>
        </p:nvSpPr>
        <p:spPr>
          <a:xfrm>
            <a:off x="685800" y="5791200"/>
            <a:ext cx="10820400" cy="295275"/>
          </a:xfrm>
          <a:prstGeom prst="rect">
            <a:avLst/>
          </a:prstGeom>
          <a:noFill/>
          <a:ln w="0">
            <a:noFill/>
          </a:ln>
        </p:spPr>
        <p:txBody>
          <a:bodyPr wrap="square" lIns="0" tIns="0" rIns="0" bIns="0" anchor="t">
            <a:noAutofit/>
          </a:bodyPr>
          <a:lstStyle>
            <a:defPPr>
              <a:defRPr sz="1650">
                <a:solidFill>
                  <a:srgbClr val="31475D"/>
                </a:solidFill>
                <a:latin typeface="Arial Unicode MS"/>
                <a:ea typeface="Arial Unicode MS"/>
                <a:cs typeface="Arial Unicode MS"/>
              </a:defRPr>
            </a:defPPr>
          </a:lstStyle>
          <a:p>
            <a:pPr>
              <a:buNone/>
              <a:defRPr sz="1650">
                <a:solidFill>
                  <a:srgbClr val="31475D"/>
                </a:solidFill>
                <a:latin typeface="Arial Unicode MS"/>
                <a:ea typeface="Arial Unicode MS"/>
                <a:cs typeface="Arial Unicode MS"/>
              </a:defRPr>
            </a:pPr>
            <a:r>
              <a:rPr sz="1650">
                <a:solidFill>
                  <a:srgbClr val="31475D"/>
                </a:solidFill>
                <a:latin typeface="Arial Unicode MS"/>
                <a:ea typeface="Arial Unicode MS"/>
                <a:cs typeface="Arial Unicode MS"/>
              </a:rPr>
              <a:t>Acceptance: phone coverage, operating scenarios, zone accuracy, latency, false triggers and fallbacks.</a:t>
            </a:r>
          </a:p>
        </p:txBody>
      </p:sp>
      <p:sp>
        <p:nvSpPr>
          <p:cNvPr id="12" name="WCC3 retains UWB secure ranging and ">
            <a:extLst>
              <a:ext uri="{FF2B5EF4-FFF2-40B4-BE49-F238E27FC236}">
                <a16:creationId xmlns:a16="http://schemas.microsoft.com/office/drawing/2014/main" id="{802F6016-8420-4062-A586-E432032362B4}"/>
              </a:ext>
            </a:extLst>
          </p:cNvPr>
          <p:cNvSpPr>
            <a:spLocks noGrp="1"/>
          </p:cNvSpPr>
          <p:nvPr/>
        </p:nvSpPr>
        <p:spPr>
          <a:xfrm>
            <a:off x="685800" y="6276975"/>
            <a:ext cx="10820400" cy="276225"/>
          </a:xfrm>
          <a:prstGeom prst="rect">
            <a:avLst/>
          </a:prstGeom>
          <a:noFill/>
          <a:ln w="0">
            <a:noFill/>
          </a:ln>
        </p:spPr>
        <p:txBody>
          <a:bodyPr wrap="square" lIns="0" tIns="0" rIns="0" bIns="0" anchor="t">
            <a:noAutofit/>
          </a:bodyPr>
          <a:lstStyle>
            <a:defPPr>
              <a:defRPr sz="1463">
                <a:solidFill>
                  <a:srgbClr val="5F7184"/>
                </a:solidFill>
                <a:latin typeface="Arial Unicode MS"/>
                <a:ea typeface="Arial Unicode MS"/>
                <a:cs typeface="Arial Unicode MS"/>
              </a:defRPr>
            </a:defPPr>
          </a:lstStyle>
          <a:p>
            <a:pPr>
              <a:buNone/>
              <a:defRPr sz="1463">
                <a:solidFill>
                  <a:srgbClr val="5F7184"/>
                </a:solidFill>
                <a:latin typeface="Arial Unicode MS"/>
                <a:ea typeface="Arial Unicode MS"/>
                <a:cs typeface="Arial Unicode MS"/>
              </a:defRPr>
            </a:pPr>
            <a:r>
              <a:rPr sz="1463">
                <a:solidFill>
                  <a:srgbClr val="5F7184"/>
                </a:solidFill>
                <a:latin typeface="Arial Unicode MS"/>
                <a:ea typeface="Arial Unicode MS"/>
                <a:cs typeface="Arial Unicode MS"/>
              </a:rPr>
              <a:t>WCC3 retains UWB secure ranging and positioning requirements. Phone coverage, security, power and cost need validation.</a:t>
            </a:r>
          </a:p>
        </p:txBody>
      </p:sp>
    </p:spTree>
    <p:extLst>
      <p:ext uri="{BB962C8B-B14F-4D97-AF65-F5344CB8AC3E}">
        <p14:creationId xmlns:p14="http://schemas.microsoft.com/office/powerpoint/2010/main" val="2077951710"/>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1279</Words>
  <Application>Microsoft Macintosh PowerPoint</Application>
  <DocSecurity>0</DocSecurity>
  <PresentationFormat>Widescreen</PresentationFormat>
  <Paragraphs>145</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 Unicode MS</vt:lpstr>
      <vt:lpstr>Aptos</vt:lpstr>
      <vt:lpstr>ChatGPT</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Ju Wang</cp:lastModifiedBy>
  <cp:revision>1</cp:revision>
  <dcterms:created xsi:type="dcterms:W3CDTF">2026-10-09T07:37:19Z</dcterms:created>
  <dcterms:modified xsi:type="dcterms:W3CDTF">2026-10-09T07:48:21Z</dcterms:modified>
</cp:coreProperties>
</file>