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30a920f5e5489a" /><Relationship Type="http://schemas.openxmlformats.org/officeDocument/2006/relationships/extended-properties" Target="/docProps/app.xml" Id="Ra9cc1eec20a947bd" /><Relationship Type="http://schemas.openxmlformats.org/officeDocument/2006/relationships/officeDocument" Target="/ppt/presentation.xml" Id="Ra07a95d7997b48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c122cc9b554ecd"/>
  </p:sldMasterIdLst>
  <p:notesMasterIdLst>
    <p:notesMasterId xmlns:r="http://schemas.openxmlformats.org/officeDocument/2006/relationships" r:id="R847a9ef06e224156"/>
  </p:notesMasterIdLst>
  <p:sldIdLst>
    <p:sldId xmlns:r="http://schemas.openxmlformats.org/officeDocument/2006/relationships" id="256" r:id="R661dae69c9fa4974"/>
    <p:sldId xmlns:r="http://schemas.openxmlformats.org/officeDocument/2006/relationships" id="257" r:id="R9c827eb495ac4aa3"/>
    <p:sldId xmlns:r="http://schemas.openxmlformats.org/officeDocument/2006/relationships" id="258" r:id="Rb683ad872538453e"/>
    <p:sldId xmlns:r="http://schemas.openxmlformats.org/officeDocument/2006/relationships" id="259" r:id="R4276af6ab9614d2b"/>
    <p:sldId xmlns:r="http://schemas.openxmlformats.org/officeDocument/2006/relationships" id="260" r:id="Rd96741b199f044f6"/>
    <p:sldId xmlns:r="http://schemas.openxmlformats.org/officeDocument/2006/relationships" id="261" r:id="Ra71aae98b55d47d4"/>
    <p:sldId xmlns:r="http://schemas.openxmlformats.org/officeDocument/2006/relationships" id="262" r:id="R487b49db4a49474a"/>
    <p:sldId xmlns:r="http://schemas.openxmlformats.org/officeDocument/2006/relationships" id="263" r:id="R0db1d3aea5594876"/>
    <p:sldId xmlns:r="http://schemas.openxmlformats.org/officeDocument/2006/relationships" id="264" r:id="Rc1569679e82a430e"/>
    <p:sldId xmlns:r="http://schemas.openxmlformats.org/officeDocument/2006/relationships" id="265" r:id="R73e9269e7a2f41bf"/>
    <p:sldId xmlns:r="http://schemas.openxmlformats.org/officeDocument/2006/relationships" id="266" r:id="R86d30d200bb44825"/>
    <p:sldId xmlns:r="http://schemas.openxmlformats.org/officeDocument/2006/relationships" id="267" r:id="Ra7d79a85c0ce49e3"/>
    <p:sldId xmlns:r="http://schemas.openxmlformats.org/officeDocument/2006/relationships" id="268" r:id="R5a3737edd96d4756"/>
    <p:sldId xmlns:r="http://schemas.openxmlformats.org/officeDocument/2006/relationships" id="269" r:id="R6f47b86b6dc1448e"/>
    <p:sldId xmlns:r="http://schemas.openxmlformats.org/officeDocument/2006/relationships" id="270" r:id="Rbed4635a7535422b"/>
    <p:sldId xmlns:r="http://schemas.openxmlformats.org/officeDocument/2006/relationships" id="271" r:id="R3403896038594d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3668462d4241a1" /><Relationship Type="http://schemas.openxmlformats.org/officeDocument/2006/relationships/slideMaster" Target="/ppt/slideMasters/slideMaster1.xml" Id="R11c122cc9b554ecd" /><Relationship Type="http://schemas.openxmlformats.org/officeDocument/2006/relationships/notesMaster" Target="/ppt/notesMasters/notesMaster1.xml" Id="R847a9ef06e224156" /><Relationship Type="http://schemas.openxmlformats.org/officeDocument/2006/relationships/presProps" Target="/ppt/presProps.xml" Id="R97aa13ff60814995" /><Relationship Type="http://schemas.openxmlformats.org/officeDocument/2006/relationships/viewProps" Target="/ppt/viewProps.xml" Id="Rbdf83f9c6a5e4f25" /><Relationship Type="http://schemas.openxmlformats.org/officeDocument/2006/relationships/tableStyles" Target="/ppt/tableStyles.xml" Id="Rce6074ad50964d12" /><Relationship Type="http://schemas.openxmlformats.org/officeDocument/2006/relationships/slide" Target="/ppt/slides/slide1.xml" Id="R661dae69c9fa4974" /><Relationship Type="http://schemas.openxmlformats.org/officeDocument/2006/relationships/slide" Target="/ppt/slides/slide2.xml" Id="R9c827eb495ac4aa3" /><Relationship Type="http://schemas.openxmlformats.org/officeDocument/2006/relationships/slide" Target="/ppt/slides/slide3.xml" Id="Rb683ad872538453e" /><Relationship Type="http://schemas.openxmlformats.org/officeDocument/2006/relationships/slide" Target="/ppt/slides/slide4.xml" Id="R4276af6ab9614d2b" /><Relationship Type="http://schemas.openxmlformats.org/officeDocument/2006/relationships/slide" Target="/ppt/slides/slide5.xml" Id="Rd96741b199f044f6" /><Relationship Type="http://schemas.openxmlformats.org/officeDocument/2006/relationships/slide" Target="/ppt/slides/slide6.xml" Id="Ra71aae98b55d47d4" /><Relationship Type="http://schemas.openxmlformats.org/officeDocument/2006/relationships/slide" Target="/ppt/slides/slide7.xml" Id="R487b49db4a49474a" /><Relationship Type="http://schemas.openxmlformats.org/officeDocument/2006/relationships/slide" Target="/ppt/slides/slide8.xml" Id="R0db1d3aea5594876" /><Relationship Type="http://schemas.openxmlformats.org/officeDocument/2006/relationships/slide" Target="/ppt/slides/slide9.xml" Id="Rc1569679e82a430e" /><Relationship Type="http://schemas.openxmlformats.org/officeDocument/2006/relationships/slide" Target="/ppt/slides/slide10.xml" Id="R73e9269e7a2f41bf" /><Relationship Type="http://schemas.openxmlformats.org/officeDocument/2006/relationships/slide" Target="/ppt/slides/slide11.xml" Id="R86d30d200bb44825" /><Relationship Type="http://schemas.openxmlformats.org/officeDocument/2006/relationships/slide" Target="/ppt/slides/slide12.xml" Id="Ra7d79a85c0ce49e3" /><Relationship Type="http://schemas.openxmlformats.org/officeDocument/2006/relationships/slide" Target="/ppt/slides/slide13.xml" Id="R5a3737edd96d4756" /><Relationship Type="http://schemas.openxmlformats.org/officeDocument/2006/relationships/slide" Target="/ppt/slides/slide14.xml" Id="R6f47b86b6dc1448e" /><Relationship Type="http://schemas.openxmlformats.org/officeDocument/2006/relationships/slide" Target="/ppt/slides/slide15.xml" Id="Rbed4635a7535422b" /><Relationship Type="http://schemas.openxmlformats.org/officeDocument/2006/relationships/slide" Target="/ppt/slides/slide16.xml" Id="R3403896038594d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b86ab71b1b45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13c1a543f34c9c" /><Relationship Type="http://schemas.openxmlformats.org/officeDocument/2006/relationships/notesMaster" Target="/ppt/notesMasters/notesMaster1.xml" Id="Rf63af9146d3f49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d46cbcc97c42af" /><Relationship Type="http://schemas.openxmlformats.org/officeDocument/2006/relationships/notesMaster" Target="/ppt/notesMasters/notesMaster1.xml" Id="Rb43f06a2939349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2a72fdb78a4977" /><Relationship Type="http://schemas.openxmlformats.org/officeDocument/2006/relationships/notesMaster" Target="/ppt/notesMasters/notesMaster1.xml" Id="R5fc2605275544b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1747df1b0a4f6b" /><Relationship Type="http://schemas.openxmlformats.org/officeDocument/2006/relationships/notesMaster" Target="/ppt/notesMasters/notesMaster1.xml" Id="R2c13679481424c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44e672f3ef4f53" /><Relationship Type="http://schemas.openxmlformats.org/officeDocument/2006/relationships/notesMaster" Target="/ppt/notesMasters/notesMaster1.xml" Id="R74bfc6ed2c274f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40f9f1e60841b3" /><Relationship Type="http://schemas.openxmlformats.org/officeDocument/2006/relationships/notesMaster" Target="/ppt/notesMasters/notesMaster1.xml" Id="R0498596e153c41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63279187c34741" /><Relationship Type="http://schemas.openxmlformats.org/officeDocument/2006/relationships/notesMaster" Target="/ppt/notesMasters/notesMaster1.xml" Id="R85c93285a60744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aa9ae23e57452d" /><Relationship Type="http://schemas.openxmlformats.org/officeDocument/2006/relationships/notesMaster" Target="/ppt/notesMasters/notesMaster1.xml" Id="R3bd70c0e28e94b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21727152cb412c" /><Relationship Type="http://schemas.openxmlformats.org/officeDocument/2006/relationships/notesMaster" Target="/ppt/notesMasters/notesMaster1.xml" Id="Ree22547ff68e40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6f1d94fbed46dd" /><Relationship Type="http://schemas.openxmlformats.org/officeDocument/2006/relationships/notesMaster" Target="/ppt/notesMasters/notesMaster1.xml" Id="R835aa01559b74d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54873c9d144367" /><Relationship Type="http://schemas.openxmlformats.org/officeDocument/2006/relationships/notesMaster" Target="/ppt/notesMasters/notesMaster1.xml" Id="R7e37367ce70d4e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29b95a1de248c9" /><Relationship Type="http://schemas.openxmlformats.org/officeDocument/2006/relationships/notesMaster" Target="/ppt/notesMasters/notesMaster1.xml" Id="R8d76e4ab5c7a4b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53135fa8c5420f" /><Relationship Type="http://schemas.openxmlformats.org/officeDocument/2006/relationships/notesMaster" Target="/ppt/notesMasters/notesMaster1.xml" Id="Rb9adb5f67a5145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0fabe28b2d463a" /><Relationship Type="http://schemas.openxmlformats.org/officeDocument/2006/relationships/notesMaster" Target="/ppt/notesMasters/notesMaster1.xml" Id="Re851b0f059e24c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021cf94c9147d3" /><Relationship Type="http://schemas.openxmlformats.org/officeDocument/2006/relationships/notesMaster" Target="/ppt/notesMasters/notesMaster1.xml" Id="Rbf3ff378c0d84f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09180f7a904819" /><Relationship Type="http://schemas.openxmlformats.org/officeDocument/2006/relationships/notesMaster" Target="/ppt/notesMasters/notesMaster1.xml" Id="R1f54004598484b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https://www.bluetooth.com/blog/bluetooth-channel-sounding-how-it-works/</a:t>
            </a:r>
          </a:p>
          <a:p xmlns:a="http://schemas.openxmlformats.org/drawingml/2006/main">
            <a:r>
              <a:t>- https://carconnectivity.org/the-car-connectivity-consortium-updates-ccc-digital-key-certification-program-with-additional-coverage-for-bluetooth-low-energy-and-ultra-wideband-technologies/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https://www.bluetooth.com/blog/bluetooth-channel-sounding-how-it-works/</a:t>
            </a:r>
          </a:p>
          <a:p xmlns:a="http://schemas.openxmlformats.org/drawingml/2006/main">
            <a:r>
              <a:t>- https://carconnectivity.org/the-car-connectivity-consortium-updates-ccc-digital-key-certification-program-with-additional-coverage-for-bluetooth-low-energy-and-ultra-wideband-technologies/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https://www.bluetooth.com/blog/bluetooth-channel-sounding-how-it-works/</a:t>
            </a:r>
          </a:p>
          <a:p xmlns:a="http://schemas.openxmlformats.org/drawingml/2006/main">
            <a:r>
              <a:t>- https://carconnectivity.org/the-car-connectivity-consortium-updates-ccc-digital-key-certification-program-with-additional-coverage-for-bluetooth-low-energy-and-ultra-wideband-technologies/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https://www.bluetooth.com/blog/bluetooth-channel-sounding-how-it-works/</a:t>
            </a:r>
          </a:p>
          <a:p xmlns:a="http://schemas.openxmlformats.org/drawingml/2006/main">
            <a:r>
              <a:t>- https://carconnectivity.org/the-car-connectivity-consortium-updates-ccc-digital-key-certification-program-with-additional-coverage-for-bluetooth-low-energy-and-ultra-wideband-technologies/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https://www.bluetooth.com/blog/bluetooth-channel-sounding-how-it-works/</a:t>
            </a:r>
          </a:p>
          <a:p xmlns:a="http://schemas.openxmlformats.org/drawingml/2006/main">
            <a:r>
              <a:t>- https://carconnectivity.org/the-car-connectivity-consortium-updates-ccc-digital-key-certification-program-with-additional-coverage-for-bluetooth-low-energy-and-ultra-wideband-technologies/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https://www.bluetooth.com/blog/bluetooth-channel-sounding-how-it-works/</a:t>
            </a:r>
          </a:p>
          <a:p xmlns:a="http://schemas.openxmlformats.org/drawingml/2006/main">
            <a:r>
              <a:t>- https://carconnectivity.org/the-car-connectivity-consortium-updates-ccc-digital-key-certification-program-with-additional-coverage-for-bluetooth-low-energy-and-ultra-wideband-technologies/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https://www.bluetooth.com/blog/bluetooth-channel-sounding-how-it-works/</a:t>
            </a:r>
          </a:p>
          <a:p xmlns:a="http://schemas.openxmlformats.org/drawingml/2006/main">
            <a:r>
              <a:t>- https://carconnectivity.org/the-car-connectivity-consortium-updates-ccc-digital-key-certification-program-with-additional-coverage-for-bluetooth-low-energy-and-ultra-wideband-technologies/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https://developer.apple.com/videos/play/wwdc2026/369/</a:t>
            </a:r>
          </a:p>
          <a:p xmlns:a="http://schemas.openxmlformats.org/drawingml/2006/main">
            <a:r>
              <a:t>- https://developer.apple.com/documentation/corebluetooth/measuring-distance-between-devices-using-channel-sounding</a:t>
            </a:r>
          </a:p>
          <a:p xmlns:a="http://schemas.openxmlformats.org/drawingml/2006/main">
            <a:r>
              <a:t>- https://developer.apple.com/documentation/nearbyinteraction/nidevicecapability/supportsbluetoothchannelsounding</a:t>
            </a:r>
          </a:p>
          <a:p xmlns:a="http://schemas.openxmlformats.org/drawingml/2006/main">
            <a:r>
              <a:t>- https://developer.android.com/develop/connectivity/ranging</a:t>
            </a:r>
          </a:p>
          <a:p xmlns:a="http://schemas.openxmlformats.org/drawingml/2006/main">
            <a:r>
              <a:t>- https://developer.android.com/reference/android/ranging/RangingCapabilities#getCsCapabilities()</a:t>
            </a:r>
          </a:p>
          <a:p xmlns:a="http://schemas.openxmlformats.org/drawingml/2006/main">
            <a:r>
              <a:t>- https://www.bluetooth.com/wp-content/uploads/Files/Specification/HTML/Core-60/out/en/low-energy-controller/channel-sounding.html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https://developer.apple.com/videos/play/wwdc2026/369/</a:t>
            </a:r>
          </a:p>
          <a:p xmlns:a="http://schemas.openxmlformats.org/drawingml/2006/main">
            <a:r>
              <a:t>- https://developer.apple.com/documentation/corebluetooth/measuring-distance-between-devices-using-channel-sounding</a:t>
            </a:r>
          </a:p>
          <a:p xmlns:a="http://schemas.openxmlformats.org/drawingml/2006/main">
            <a:r>
              <a:t>- https://developer.apple.com/documentation/nearbyinteraction/nidevicecapability/supportsbluetoothchannelsounding</a:t>
            </a:r>
          </a:p>
          <a:p xmlns:a="http://schemas.openxmlformats.org/drawingml/2006/main">
            <a:r>
              <a:t>- https://developer.android.com/develop/connectivity/ranging</a:t>
            </a:r>
          </a:p>
          <a:p xmlns:a="http://schemas.openxmlformats.org/drawingml/2006/main">
            <a:r>
              <a:t>- https://developer.android.com/reference/android/ranging/RangingCapabilities#getCsCapabilities()</a:t>
            </a:r>
          </a:p>
          <a:p xmlns:a="http://schemas.openxmlformats.org/drawingml/2006/main">
            <a:r>
              <a:t>- https://www.bluetooth.com/wp-content/uploads/Files/Specification/HTML/Core-60/out/en/low-energy-controller/channel-sounding.html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https://www.bluetooth.com/blog/bluetooth-channel-sounding-how-it-works/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https://carconnectivity.org/the-car-connectivity-consortium-updates-ccc-digital-key-certification-program-with-additional-coverage-for-bluetooth-low-energy-and-ultra-wideband-technologies/</a:t>
            </a:r>
          </a:p>
          <a:p xmlns:a="http://schemas.openxmlformats.org/drawingml/2006/main">
            <a:r>
              <a:t>- https://www.nxp.com/design/design-center/training/TIP-UWB-RADAR-AUTOMOTIVE-APPLICATIONS</a:t>
            </a:r>
          </a:p>
          <a:p xmlns:a="http://schemas.openxmlformats.org/drawingml/2006/main">
            <a:r>
              <a:t>- https://www.nxp.com/products/NCJ29D6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https://carconnectivity.org/the-car-connectivity-consortium-updates-ccc-digital-key-certification-program-with-additional-coverage-for-bluetooth-low-energy-and-ultra-wideband-technologies/</a:t>
            </a:r>
          </a:p>
          <a:p xmlns:a="http://schemas.openxmlformats.org/drawingml/2006/main">
            <a:r>
              <a:t>- https://www.can-cia.org/can-knowledge/can-fd-the-basic-idea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64dfea43a48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023f183de42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1912cde7d44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c7db9576b43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cd62a147144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0b0b6ddfc433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3db64fccc446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ce938399c484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d297935cf4e3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0810a959440f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e7a115f6d4d2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A8242B-86F0-33AA-891A-E2985ADA93F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47D536-3D17-1E5D-9A0E-8C86471049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B0EA7D-E2D4-8894-B1CC-8BB20A7CEE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C96C04D-FDCB-094E-8105-3A17E698EB67}" type="datetimeFigureOut">
              <a:t>2026/9/1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4E509D-DB5A-A0A5-3E9E-624CF365FE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30E5A6-F824-1E10-9709-CDC8BF410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7647640-0DE3-B14E-8891-CC29F86995E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6185C1-7B09-7A22-8811-602AE4B28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722519-0BFF-7763-9AD0-8C06941908D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5C65B7-F3F8-03A6-500D-0F775D0735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C96C04D-FDCB-094E-8105-3A17E698EB67}" type="datetimeFigureOut">
              <a:t>2026/9/1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E1A2D7-326D-F0F3-B9BB-2C2DBF9ADD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D6102E-D585-9D62-CE23-7D3099E2FD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7647640-0DE3-B14E-8891-CC29F86995E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F9E50C-C896-0494-9385-AED9B8063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87C1A4-367A-31AD-B8B1-F2FA14F6B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CFFBAA-1528-23EF-3CED-50FEAABE1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C96C04D-FDCB-094E-8105-3A17E698EB67}" type="datetimeFigureOut">
              <a:t>2026/9/1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54C387-6A75-8637-12C5-8836AB0F03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B27A7D-ABA1-C4D0-32AA-50B79DAF19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7647640-0DE3-B14E-8891-CC29F86995E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DF82AD-0ECF-15E3-B612-A3F95E64CE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AC9607-3515-A577-FFF9-98A849766E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DAF5D90-2A29-46C9-B8DA-2126BF2B261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4A3546B-B868-5FC3-299A-3F8B73F2CD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C96C04D-FDCB-094E-8105-3A17E698EB67}" type="datetimeFigureOut">
              <a:t>2026/9/1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28CE414-1F68-D045-906C-93592E09B4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3A5616-309A-763D-F999-64865B103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7647640-0DE3-B14E-8891-CC29F86995E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F0656E-7F6E-2209-B022-8971287694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B39E5B-B7DA-8244-8842-44F79874C7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07079D2-BCE1-48F1-F381-6B558D2F0B0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B3D7DED-F35D-8EF1-A6E2-629F3E74767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97A453B-B402-0807-1376-EFE230B74EA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58C3F53-4121-0F8F-D961-FA27930999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C96C04D-FDCB-094E-8105-3A17E698EB67}" type="datetimeFigureOut">
              <a:t>2026/9/1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6D99AF6-B157-05C1-B5FD-F9DBF59FDE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BF147AB-EB43-AAFD-D628-8AE93AFE49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7647640-0DE3-B14E-8891-CC29F86995EA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8BED8B-B3E9-2299-84A8-AE98BB406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8FF99FB-75F3-4C05-6FAB-DD313B06B9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C96C04D-FDCB-094E-8105-3A17E698EB67}" type="datetimeFigureOut">
              <a:t>2026/9/1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CBF46C0-7074-83B3-0B5F-824457E684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53E1DBB-F506-C1B0-9018-7A83ED2026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7647640-0DE3-B14E-8891-CC29F86995E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D2F658E-F9E8-68D1-2E52-2874BC0526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C96C04D-FDCB-094E-8105-3A17E698EB67}" type="datetimeFigureOut">
              <a:t>2026/9/1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5FAA01-C7ED-BA02-4217-55FF197EC2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002C7D5-7391-1E6D-FED2-6E7EA2055D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7647640-0DE3-B14E-8891-CC29F86995E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DE2A48-C18C-E973-4207-E997BD2F8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82D75E-80CB-31DB-EA90-77F0D3630F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BFE3050-D1CE-94EE-478E-E7CC383A0D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AF50698-9CC2-C2E6-6AA1-171928EF28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C96C04D-FDCB-094E-8105-3A17E698EB67}" type="datetimeFigureOut">
              <a:t>2026/9/1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2C35FEE-7D6D-096F-EA5C-3C91138186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5FFE12F-3500-7B48-B832-6447A37CA2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7647640-0DE3-B14E-8891-CC29F86995EA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0C7537-6663-2390-362E-D30420614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3964614-2162-5F68-A46D-E256B1A638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2B064DB-6B85-4ECF-ADE4-42319DD785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A2A5F9B-1EFA-1FFA-B3A2-D68D7B6DC5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C96C04D-FDCB-094E-8105-3A17E698EB67}" type="datetimeFigureOut">
              <a:t>2026/9/1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9F1B96E-CE7C-1B9E-28B1-2E9D570F40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7CC4B3-15A0-E84D-CE25-E78E7487DC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7647640-0DE3-B14E-8891-CC29F86995E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7EF64F-037B-D94E-25F1-4914073C3B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0135C23-636D-78DE-19F2-DF7E9BD8D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024EC3-6CD7-7D64-C77A-63E60B54DB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C96C04D-FDCB-094E-8105-3A17E698EB67}" type="datetimeFigureOut">
              <a:t>2026/9/1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FAEA48-10D1-7EB7-64E8-40D4100BAF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9CB1BE-A004-B90F-0460-22FED1CC60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7647640-0DE3-B14E-8891-CC29F86995E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277BA2-1CF7-162D-1B8F-7A4D7BC3E9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19382F-549A-0679-F628-FA94BC663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C9060B-50C6-F91A-9A26-BC8B52AFDA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C96C04D-FDCB-094E-8105-3A17E698EB67}" type="datetimeFigureOut">
              <a:t>2026/9/1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4A2E468-001D-FD69-5307-B6B54FE35F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8CF9C-357F-FE3B-550F-31B67B45A3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7647640-0DE3-B14E-8891-CC29F86995E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bebf93ee884daf" /><Relationship Type="http://schemas.openxmlformats.org/officeDocument/2006/relationships/slideLayout" Target="/ppt/slideLayouts/slideLayout1.xml" Id="R04d7c56769df47f0" /><Relationship Type="http://schemas.openxmlformats.org/officeDocument/2006/relationships/slideLayout" Target="/ppt/slideLayouts/slideLayout2.xml" Id="R09c7a75c4fff4ff2" /><Relationship Type="http://schemas.openxmlformats.org/officeDocument/2006/relationships/slideLayout" Target="/ppt/slideLayouts/slideLayout3.xml" Id="R2323a74d5f494c9a" /><Relationship Type="http://schemas.openxmlformats.org/officeDocument/2006/relationships/slideLayout" Target="/ppt/slideLayouts/slideLayout4.xml" Id="Rab744eb691d74341" /><Relationship Type="http://schemas.openxmlformats.org/officeDocument/2006/relationships/slideLayout" Target="/ppt/slideLayouts/slideLayout5.xml" Id="R629c870669ff4ea5" /><Relationship Type="http://schemas.openxmlformats.org/officeDocument/2006/relationships/slideLayout" Target="/ppt/slideLayouts/slideLayout6.xml" Id="R113352789b8640d5" /><Relationship Type="http://schemas.openxmlformats.org/officeDocument/2006/relationships/slideLayout" Target="/ppt/slideLayouts/slideLayout7.xml" Id="Ra96b27656b174694" /><Relationship Type="http://schemas.openxmlformats.org/officeDocument/2006/relationships/slideLayout" Target="/ppt/slideLayouts/slideLayout8.xml" Id="Rfbbcb8b3bb194456" /><Relationship Type="http://schemas.openxmlformats.org/officeDocument/2006/relationships/slideLayout" Target="/ppt/slideLayouts/slideLayout9.xml" Id="R93dfe138a330414c" /><Relationship Type="http://schemas.openxmlformats.org/officeDocument/2006/relationships/slideLayout" Target="/ppt/slideLayouts/slideLayout10.xml" Id="R32af39bf7f274a9b" /><Relationship Type="http://schemas.openxmlformats.org/officeDocument/2006/relationships/slideLayout" Target="/ppt/slideLayouts/slideLayout11.xml" Id="R6638c977cced4e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36E5D4B-2362-6BA5-82CD-7A2DA9D43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D725E1-D63E-6C7F-C139-AB77842B3B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FF8EAEA-E35C-0513-DED5-6C667FF171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C96C04D-FDCB-094E-8105-3A17E698EB67}" type="datetimeFigureOut">
              <a:t>2026/9/1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AD082E-BEC7-2B7A-0159-C0350E2A697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301A3A-98C8-CC35-4180-451E72CBB0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07647640-0DE3-B14E-8891-CC29F86995E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d7c56769df47f0"/>
    <p:sldLayoutId xmlns:r="http://schemas.openxmlformats.org/officeDocument/2006/relationships" id="2147483650" r:id="R09c7a75c4fff4ff2"/>
    <p:sldLayoutId xmlns:r="http://schemas.openxmlformats.org/officeDocument/2006/relationships" id="2147483651" r:id="R2323a74d5f494c9a"/>
    <p:sldLayoutId xmlns:r="http://schemas.openxmlformats.org/officeDocument/2006/relationships" id="2147483652" r:id="Rab744eb691d74341"/>
    <p:sldLayoutId xmlns:r="http://schemas.openxmlformats.org/officeDocument/2006/relationships" id="2147483653" r:id="R629c870669ff4ea5"/>
    <p:sldLayoutId xmlns:r="http://schemas.openxmlformats.org/officeDocument/2006/relationships" id="2147483654" r:id="R113352789b8640d5"/>
    <p:sldLayoutId xmlns:r="http://schemas.openxmlformats.org/officeDocument/2006/relationships" id="2147483655" r:id="Ra96b27656b174694"/>
    <p:sldLayoutId xmlns:r="http://schemas.openxmlformats.org/officeDocument/2006/relationships" id="2147483656" r:id="Rfbbcb8b3bb194456"/>
    <p:sldLayoutId xmlns:r="http://schemas.openxmlformats.org/officeDocument/2006/relationships" id="2147483657" r:id="R93dfe138a330414c"/>
    <p:sldLayoutId xmlns:r="http://schemas.openxmlformats.org/officeDocument/2006/relationships" id="2147483658" r:id="R32af39bf7f274a9b"/>
    <p:sldLayoutId xmlns:r="http://schemas.openxmlformats.org/officeDocument/2006/relationships" id="2147483659" r:id="R6638c977cced4eb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b1e3e163db43a9" /><Relationship Type="http://schemas.openxmlformats.org/officeDocument/2006/relationships/image" Target="/ppt/media/image.png" Id="Rb8617a63f4d74753" /><Relationship Type="http://schemas.openxmlformats.org/officeDocument/2006/relationships/notesSlide" Target="/ppt/notesSlides/notesSlide1.xml" Id="R1f57f49d141843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2cb1d0df9241b9" /><Relationship Type="http://schemas.openxmlformats.org/officeDocument/2006/relationships/image" Target="/ppt/media/image.png" Id="Ra14a092247124408" /><Relationship Type="http://schemas.openxmlformats.org/officeDocument/2006/relationships/notesSlide" Target="/ppt/notesSlides/notesSlide2.xml" Id="Rab8f69f4df3747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cb71ca8bf44536" /><Relationship Type="http://schemas.openxmlformats.org/officeDocument/2006/relationships/image" Target="/ppt/media/image.png" Id="R72b0878c20b24afc" /><Relationship Type="http://schemas.openxmlformats.org/officeDocument/2006/relationships/notesSlide" Target="/ppt/notesSlides/notesSlide3.xml" Id="R69bdfc2d76cb41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945c1d65144090" /><Relationship Type="http://schemas.openxmlformats.org/officeDocument/2006/relationships/image" Target="/ppt/media/image.png" Id="Rcbb090d79e804ad6" /><Relationship Type="http://schemas.openxmlformats.org/officeDocument/2006/relationships/notesSlide" Target="/ppt/notesSlides/notesSlide4.xml" Id="R2ee11059e1444a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9ece7c8a454574" /><Relationship Type="http://schemas.openxmlformats.org/officeDocument/2006/relationships/image" Target="/ppt/media/image.png" Id="R05c4558f45b34e78" /><Relationship Type="http://schemas.openxmlformats.org/officeDocument/2006/relationships/notesSlide" Target="/ppt/notesSlides/notesSlide5.xml" Id="R122d3e93de3540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1e8ffee3ac41d5" /><Relationship Type="http://schemas.openxmlformats.org/officeDocument/2006/relationships/image" Target="/ppt/media/image.png" Id="Rb4e635ecaed740c5" /><Relationship Type="http://schemas.openxmlformats.org/officeDocument/2006/relationships/notesSlide" Target="/ppt/notesSlides/notesSlide6.xml" Id="R4eff6cc3e8fe4c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2ee930110f4193" /><Relationship Type="http://schemas.openxmlformats.org/officeDocument/2006/relationships/image" Target="/ppt/media/image.png" Id="R7729f8ee31264699" /><Relationship Type="http://schemas.openxmlformats.org/officeDocument/2006/relationships/notesSlide" Target="/ppt/notesSlides/notesSlide7.xml" Id="Reb9049f2e1024d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5f31cf9f694150" /><Relationship Type="http://schemas.openxmlformats.org/officeDocument/2006/relationships/notesSlide" Target="/ppt/notesSlides/notesSlide8.xml" Id="R8eda317297fe41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41b0c9cbd841c2" /><Relationship Type="http://schemas.openxmlformats.org/officeDocument/2006/relationships/hyperlink" Target="https://developer.apple.com/videos/play/wwdc2026/369/" TargetMode="External" Id="Rd32a9d56db154f70" /><Relationship Type="http://schemas.openxmlformats.org/officeDocument/2006/relationships/hyperlink" Target="https://developer.apple.com/videos/play/wwdc2026/369/" TargetMode="External" Id="Rca50ac762cb34548" /><Relationship Type="http://schemas.openxmlformats.org/officeDocument/2006/relationships/hyperlink" Target="https://developer.apple.com/documentation/corebluetooth/measuring-distance-between-devices-using-channel-sounding" TargetMode="External" Id="R587eaed555c64713" /><Relationship Type="http://schemas.openxmlformats.org/officeDocument/2006/relationships/hyperlink" Target="https://developer.apple.com/documentation/corebluetooth/measuring-distance-between-devices-using-channel-sounding" TargetMode="External" Id="Ra13429162c4e4153" /><Relationship Type="http://schemas.openxmlformats.org/officeDocument/2006/relationships/hyperlink" Target="https://developer.apple.com/documentation/nearbyinteraction/nidevicecapability/supportsbluetoothchannelsounding" TargetMode="External" Id="Ra6870517109e4dbf" /><Relationship Type="http://schemas.openxmlformats.org/officeDocument/2006/relationships/hyperlink" Target="https://developer.apple.com/documentation/nearbyinteraction/nidevicecapability/supportsbluetoothchannelsounding" TargetMode="External" Id="R309e7079d3d44c7b" /><Relationship Type="http://schemas.openxmlformats.org/officeDocument/2006/relationships/hyperlink" Target="https://developer.android.com/develop/connectivity/ranging" TargetMode="External" Id="R8037ee0522bd4bd1" /><Relationship Type="http://schemas.openxmlformats.org/officeDocument/2006/relationships/hyperlink" Target="https://developer.android.com/develop/connectivity/ranging" TargetMode="External" Id="R44d57d71668b4bfb" /><Relationship Type="http://schemas.openxmlformats.org/officeDocument/2006/relationships/hyperlink" Target="https://developer.android.com/reference/android/ranging/RangingCapabilities#getCsCapabilities()" TargetMode="External" Id="R60bddbbed2874a09" /><Relationship Type="http://schemas.openxmlformats.org/officeDocument/2006/relationships/hyperlink" Target="https://developer.android.com/reference/android/ranging/RangingCapabilities#getCsCapabilities()" TargetMode="External" Id="R86a276af99d54d9b" /><Relationship Type="http://schemas.openxmlformats.org/officeDocument/2006/relationships/hyperlink" Target="https://www.bluetooth.com/wp-content/uploads/Files/Specification/HTML/Core-60/out/en/low-energy-controller/channel-sounding.html" TargetMode="External" Id="Rc068459fd5df42e6" /><Relationship Type="http://schemas.openxmlformats.org/officeDocument/2006/relationships/hyperlink" Target="https://www.bluetooth.com/wp-content/uploads/Files/Specification/HTML/Core-60/out/en/low-energy-controller/channel-sounding.html" TargetMode="External" Id="Rc4183672faf84760" /><Relationship Type="http://schemas.openxmlformats.org/officeDocument/2006/relationships/notesSlide" Target="/ppt/notesSlides/notesSlide9.xml" Id="Rf3ad7f43f20048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31623f47a7436d" /><Relationship Type="http://schemas.openxmlformats.org/officeDocument/2006/relationships/notesSlide" Target="/ppt/notesSlides/notesSlide10.xml" Id="R7da64d40853045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c5a2f849dd417f" /><Relationship Type="http://schemas.openxmlformats.org/officeDocument/2006/relationships/notesSlide" Target="/ppt/notesSlides/notesSlide11.xml" Id="Rc68c63bf22a542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5e49a1247e4a25" /><Relationship Type="http://schemas.openxmlformats.org/officeDocument/2006/relationships/notesSlide" Target="/ppt/notesSlides/notesSlide12.xml" Id="R337a3c604d434a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0180defbeb4937" /><Relationship Type="http://schemas.openxmlformats.org/officeDocument/2006/relationships/notesSlide" Target="/ppt/notesSlides/notesSlide13.xml" Id="R058cf92ed9b54f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100272546647d2" /><Relationship Type="http://schemas.openxmlformats.org/officeDocument/2006/relationships/notesSlide" Target="/ppt/notesSlides/notesSlide14.xml" Id="Rfbdd089582ac48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ed3dc8f3094f0e" /><Relationship Type="http://schemas.openxmlformats.org/officeDocument/2006/relationships/notesSlide" Target="/ppt/notesSlides/notesSlide15.xml" Id="R78b5e7f5f8a04d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522ca9cfd44f1e" /><Relationship Type="http://schemas.openxmlformats.org/officeDocument/2006/relationships/notesSlide" Target="/ppt/notesSlides/notesSlide16.xml" Id="Reba47356633e4d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9076D9-A737-6652-C071-C3776F6AB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 1 — 1 BLE-CS + NFC</a:t>
            </a:r>
          </a:p>
        </p:txBody>
      </p:sp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17a63f4d7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2145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867B77F-A349-A9AF-2AA1-6DB55BD4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88" y="1690688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650F833-3363-88CE-20D3-ABB633B8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88" y="1968649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  <a:lumOff val="50000"/>
            </a:schemeClr>
          </a:solidFill>
          <a:ln xmlns:a="http://schemas.openxmlformats.org/drawingml/2006/main">
            <a:solidFill>
              <a:schemeClr val="tx2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NFC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6EA1047-BFE9-A24E-C148-CD3B08AF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331" y="2454536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  <a:lumOff val="50000"/>
            </a:schemeClr>
          </a:solidFill>
          <a:ln xmlns:a="http://schemas.openxmlformats.org/drawingml/2006/main">
            <a:solidFill>
              <a:schemeClr val="tx2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NFC</a:t>
            </a:r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C81941E7-893C-CB99-A2F3-1D596C0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7840"/>
            <a:ext cx="6693945" cy="34630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Advantages: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Lowest BLE-node cost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NFC remains available if BLE is unavailable</a:t>
            </a:r>
          </a:p>
          <a:p xmlns:a="http://schemas.openxmlformats.org/drawingml/2006/main">
            <a:pPr algn="l">
              <a:spcBef>
                <a:spcPts val="7"/>
              </a:spcBef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Limitations: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One distance cannot determine 2D/3D position or reliably separate inside from outside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RSSI fallback has lower accuracy and weaker proximity assurance</a:t>
            </a:r>
          </a:p>
          <a:p xmlns:a="http://schemas.openxmlformats.org/drawingml/2006/main">
            <a:pPr algn="l">
              <a:spcBef>
                <a:spcPts val="7"/>
              </a:spcBef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Best fit: </a:t>
            </a: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Entry vehicles; two- and three-wheelers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7F65A4DD-9AF9-AB8D-0359-88075DE6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0656"/>
            <a:ext cx="6810487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Configuration: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One BLE node: Bluetooth CS; calibrated RSSI fallback.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Door-handle and console NFC readers are baseline items and are omitted from later diagrams.</a:t>
            </a:r>
          </a:p>
        </p:txBody>
      </p:sp>
      <p:sp>
        <p:nvSpPr>
          <p:cNvPr id="4" name="5-Point Star 3">
            <a:extLst xmlns:a="http://schemas.openxmlformats.org/drawingml/2006/main">
              <a:ext uri="{FF2B5EF4-FFF2-40B4-BE49-F238E27FC236}">
                <a16:creationId xmlns:a16="http://schemas.microsoft.com/office/drawing/2014/main" id="{9F6FABFB-7A07-7A58-D697-4B89A88B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757" y="2349067"/>
            <a:ext cx="128067" cy="105469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68457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52C2E9-EFD9-A1B9-9170-AA17115259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 2 — 3 BLE-CS</a:t>
            </a:r>
          </a:p>
        </p:txBody>
      </p:sp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a0922471244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2145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3FD975-5D6B-119C-CE78-91A415D2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88" y="1690688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089B7361-DD6C-3ECA-8707-A22B26AD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7840"/>
            <a:ext cx="6693945" cy="34630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Advantages: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Low BOM with basic positioning capability</a:t>
            </a:r>
          </a:p>
          <a:p xmlns:a="http://schemas.openxmlformats.org/drawingml/2006/main">
            <a:pPr algn="l">
              <a:spcBef>
                <a:spcPts val="7"/>
              </a:spcBef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Limitations: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Limited geometric redundancy; occlusion and multipath can create weak zones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RSSI fallback has lower accuracy and weaker proximity assurance</a:t>
            </a:r>
          </a:p>
          <a:p xmlns:a="http://schemas.openxmlformats.org/drawingml/2006/main">
            <a:pPr algn="l">
              <a:spcBef>
                <a:spcPts val="7"/>
              </a:spcBef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Best fit: </a:t>
            </a: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Value and mid-range passenger vehicles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E943C2EE-7411-FE8E-1A07-7DA41167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0656"/>
            <a:ext cx="6810487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Configuration: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Three BLE ranging nodes support 2D multilateration.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Use Bluetooth CS when supported; otherwise use calibrated RSSI.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75558C2-D7E5-2E2D-3612-348559F3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363" y="4517287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>
              <a:highlight>
                <a:srgbClr val="C0C0C0"/>
              </a:highlight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7C9B471-8C40-E925-DDF7-31469894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464" y="4475124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>
              <a:highlight>
                <a:srgbClr val="C0C0C0"/>
              </a:highlight>
            </a:endParaRPr>
          </a:p>
        </p:txBody>
      </p:sp>
      <p:sp>
        <p:nvSpPr>
          <p:cNvPr id="9" name="5-Point Star 8">
            <a:extLst xmlns:a="http://schemas.openxmlformats.org/drawingml/2006/main">
              <a:ext uri="{FF2B5EF4-FFF2-40B4-BE49-F238E27FC236}">
                <a16:creationId xmlns:a16="http://schemas.microsoft.com/office/drawing/2014/main" id="{E0B3C561-A163-A517-503A-C5BED9E9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459" y="1968649"/>
            <a:ext cx="128067" cy="105469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09172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563D35-6797-0923-C683-870D7268D3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 3 — 4 BLE-CS</a:t>
            </a:r>
          </a:p>
        </p:txBody>
      </p:sp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0878c20b24a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2145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61B0692-750E-4F12-C761-EF9D1031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331" y="2166141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7E1475BF-698A-68C1-2F2C-532AA4E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7840"/>
            <a:ext cx="6693945" cy="3700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Advantages: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Moderate cost with better coverage and redundancy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Positioning can continue when one anchor is degraded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NFC provides a separate access path</a:t>
            </a:r>
          </a:p>
          <a:p xmlns:a="http://schemas.openxmlformats.org/drawingml/2006/main">
            <a:pPr algn="l">
              <a:spcBef>
                <a:spcPts val="7"/>
              </a:spcBef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Limitations: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Inside/outside decisions still require vehicle and handset calibration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RSSI fallback provides weaker proximity assurance</a:t>
            </a:r>
          </a:p>
          <a:p xmlns:a="http://schemas.openxmlformats.org/drawingml/2006/main">
            <a:pPr algn="l">
              <a:spcBef>
                <a:spcPts val="7"/>
              </a:spcBef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Best fit: </a:t>
            </a: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Mid- to upper-range passenger vehicles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CC7C911D-E249-FF73-A821-31632130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0656"/>
            <a:ext cx="6810487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Configuration: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Four BLE nodes use Bluetooth CS for multi-anchor ranging.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Calibrated RSSI is the compatibility fallback.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1B3C19-517A-9841-DB64-D0149C48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363" y="4517287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106CCC3-9268-E423-EECD-0592F351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464" y="4475124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55A6BB3-CD62-CE91-6355-C73CB0BB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6589" y="2176575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13" name="5-Point Star 12">
            <a:extLst xmlns:a="http://schemas.openxmlformats.org/drawingml/2006/main">
              <a:ext uri="{FF2B5EF4-FFF2-40B4-BE49-F238E27FC236}">
                <a16:creationId xmlns:a16="http://schemas.microsoft.com/office/drawing/2014/main" id="{2892861E-D5BA-744E-DE74-DED6BF12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065" y="2454536"/>
            <a:ext cx="128067" cy="105469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3435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CD2FB6-D443-4FAF-F67E-C9F5D3BF0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 4 — 5 BLE-CS</a:t>
            </a:r>
          </a:p>
        </p:txBody>
      </p:sp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090d79e804a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2145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F39E93A-CD84-553D-73A8-CC8409BE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88" y="1811512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DE455FAF-9046-CA66-E39E-940C17D6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7840"/>
            <a:ext cx="6693945" cy="3700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Advantages: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Stronger geometric redundancy and coverage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More observations for cabin and perimeter classification</a:t>
            </a:r>
          </a:p>
          <a:p xmlns:a="http://schemas.openxmlformats.org/drawingml/2006/main">
            <a:pPr algn="l">
              <a:spcBef>
                <a:spcPts val="7"/>
              </a:spcBef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Limitations: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Higher BOM, power and integration effort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RSSI fallback remains less accurate and less relay-resistant than secure ranging</a:t>
            </a:r>
          </a:p>
          <a:p xmlns:a="http://schemas.openxmlformats.org/drawingml/2006/main">
            <a:pPr algn="l">
              <a:spcBef>
                <a:spcPts val="7"/>
              </a:spcBef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Best fit: </a:t>
            </a: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Mid- to upper-range passenger vehicles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B34AB752-7092-75F3-D860-D25C8A4F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0656"/>
            <a:ext cx="6810487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Configuration: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Five BLE-CS nodes provide multi-anchor ranging and improved cabin coverage.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Use calibrated RSSI on phones without CS.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522F982-01B1-95FB-444C-59DEFEBC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363" y="4517287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9B63DD5-72B9-3740-6EF4-A584A6A3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464" y="4475124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0AC3CC6-B411-03E3-17C5-5A0DEB40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549" y="763275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3DA376B-EF79-C760-9A0D-6580FEC4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589" y="749945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13" name="5-Point Star 12">
            <a:extLst xmlns:a="http://schemas.openxmlformats.org/drawingml/2006/main">
              <a:ext uri="{FF2B5EF4-FFF2-40B4-BE49-F238E27FC236}">
                <a16:creationId xmlns:a16="http://schemas.microsoft.com/office/drawing/2014/main" id="{2DE320CA-4293-D8FC-595C-F59300BD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499" y="2089473"/>
            <a:ext cx="128067" cy="105469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5634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AF9208-98E9-5819-7553-15B7009B4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 5 — 1 CS + 5 UWB</a:t>
            </a:r>
          </a:p>
        </p:txBody>
      </p:sp>
      <p:pic>
        <p:nvPicPr>
          <p:cNvPr id="2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4558f45b34e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2145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2E919C0-BB29-C685-C3CD-AA944E84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88" y="1690688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3A0970A2-E3B5-0753-6E95-14122C51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7840"/>
            <a:ext cx="6693945" cy="3700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Advantages: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High positioning accuracy and strong proximity assurance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Can support CCC/Wallet digital keys when the full ecosystem requirements are met</a:t>
            </a:r>
          </a:p>
          <a:p xmlns:a="http://schemas.openxmlformats.org/drawingml/2006/main">
            <a:pPr algn="l">
              <a:spcBef>
                <a:spcPts val="7"/>
              </a:spcBef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Limitations: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Higher cost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A phone without UWB receives only one BLE-CS distance, not full position</a:t>
            </a:r>
          </a:p>
          <a:p xmlns:a="http://schemas.openxmlformats.org/drawingml/2006/main">
            <a:pPr algn="l">
              <a:spcBef>
                <a:spcPts val="7"/>
              </a:spcBef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Best fit: </a:t>
            </a: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Mid- to upper-range passenger vehicles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988854E0-F2B9-08BF-B2F1-3457EC8F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0656"/>
            <a:ext cx="6810487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Configuration: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BLE-CS supports discovery and distance gating.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Five UWB nodes provide secure, precise positioning.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E7E136B-0058-A0BB-045F-93A47906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363" y="4517287"/>
            <a:ext cx="946672" cy="277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/>
            </a:r>
            <a:endParaRPr sz="1300"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4774DB-AD5E-FFA9-0E4B-F1DE4021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464" y="4475124"/>
            <a:ext cx="946672" cy="277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/>
            </a:r>
            <a:endParaRPr sz="1300"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74B7DE7-7DA4-9418-6992-7B34E6C6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549" y="763275"/>
            <a:ext cx="946672" cy="277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/>
            </a:r>
            <a:endParaRPr sz="1300"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1A0B21E-8682-B8B5-9F03-0306603E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589" y="749945"/>
            <a:ext cx="946672" cy="277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/>
            </a:r>
            <a:endParaRPr sz="1300"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FAB3637-A8DC-EB32-15BB-A6862899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88" y="1968649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UWB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6622473-3726-5A97-A639-56C7E944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363" y="4517287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UWB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14589FB-AA05-C932-0BE8-7049223C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464" y="4475123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UWB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84496DF-4433-E8F4-A024-2630CBA3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589" y="749944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UWB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64D00C6-CC2C-D436-0E94-BECBF9C7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549" y="763275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UWB</a:t>
            </a:r>
          </a:p>
        </p:txBody>
      </p:sp>
      <p:sp>
        <p:nvSpPr>
          <p:cNvPr id="19" name="5-Point Star 18">
            <a:extLst xmlns:a="http://schemas.openxmlformats.org/drawingml/2006/main">
              <a:ext uri="{FF2B5EF4-FFF2-40B4-BE49-F238E27FC236}">
                <a16:creationId xmlns:a16="http://schemas.microsoft.com/office/drawing/2014/main" id="{92B85373-7A3A-E086-72B4-E6A32EF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499" y="2089473"/>
            <a:ext cx="128067" cy="105469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9515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AF9208-98E9-5819-7553-15B7009B4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>
                <a:solidFill>
                  <a:srgbClr val="000000"/>
                </a:solidFill>
                <a:latin typeface="Arial"/>
                <a:ea typeface="Arial"/>
                <a:cs typeface="Arial"/>
              </a:rPr>
              <a:t>6 — 5 + 5</a:t>
            </a:r>
          </a:p>
        </p:txBody>
      </p:sp>
      <p:pic>
        <p:nvPicPr>
          <p:cNvPr id="2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635ecaed740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2145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2E919C0-BB29-C685-C3CD-AA944E84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88" y="1690688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3A0970A2-E3B5-0753-6E95-14122C51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7840"/>
            <a:ext cx="6693945" cy="3700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Advantages: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Strong UWB positioning plus a capable non-UWB fallback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High coverage and redundancy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Can support CCC/Wallet digital keys when all ecosystem requirements are met</a:t>
            </a:r>
          </a:p>
          <a:p xmlns:a="http://schemas.openxmlformats.org/drawingml/2006/main">
            <a:pPr algn="l">
              <a:spcBef>
                <a:spcPts val="7"/>
              </a:spcBef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Limitations: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Highest BOM, power, RF coexistence and scheduling complexity</a:t>
            </a:r>
          </a:p>
          <a:p xmlns:a="http://schemas.openxmlformats.org/drawingml/2006/main">
            <a:pPr algn="l">
              <a:spcBef>
                <a:spcPts val="7"/>
              </a:spcBef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Best fit: </a:t>
            </a: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High-end passenger vehicles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988854E0-F2B9-08BF-B2F1-3457EC8F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0656"/>
            <a:ext cx="6810487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3"/>
              </a:spcAft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Baseline: 5 BLE-CS + 5 UWB + NFC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Use UWB for secure, precise positioning when available.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Use multi-anchor Bluetooth CS for phones without UWB.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E7E136B-0058-A0BB-045F-93A47906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363" y="4517287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4774DB-AD5E-FFA9-0E4B-F1DE4021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464" y="4475124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74B7DE7-7DA4-9418-6992-7B34E6C6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549" y="763275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1A0B21E-8682-B8B5-9F03-0306603E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589" y="749945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FAB3637-A8DC-EB32-15BB-A6862899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88" y="1968649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UWB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6622473-3726-5A97-A639-56C7E944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363" y="4795266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UWB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14589FB-AA05-C932-0BE8-7049223C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464" y="4753070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UWB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84496DF-4433-E8F4-A024-2630CBA3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589" y="1027938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UWB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64D00C6-CC2C-D436-0E94-BECBF9C7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549" y="1041273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UWB</a:t>
            </a:r>
          </a:p>
        </p:txBody>
      </p:sp>
      <p:sp>
        <p:nvSpPr>
          <p:cNvPr id="19" name="5-Point Star 18">
            <a:extLst xmlns:a="http://schemas.openxmlformats.org/drawingml/2006/main">
              <a:ext uri="{FF2B5EF4-FFF2-40B4-BE49-F238E27FC236}">
                <a16:creationId xmlns:a16="http://schemas.microsoft.com/office/drawing/2014/main" id="{92B85373-7A3A-E086-72B4-E6A32EF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499" y="2089473"/>
            <a:ext cx="128067" cy="105469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9515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8C1A2-096B-B7C2-2E6F-9EEBECEAEF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 7 — 1 CS + 2 UWB</a:t>
            </a:r>
          </a:p>
        </p:txBody>
      </p:sp>
      <p:pic>
        <p:nvPicPr>
          <p:cNvPr id="2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9f8ee312646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2145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88A4B6-95EB-3B16-B413-1820049E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88" y="1690688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BLE + CS</a:t>
            </a:r>
            <a:endParaRPr sz="13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879B34B6-8DE2-41DD-F380-726B5900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4024"/>
            <a:ext cx="6693945" cy="3700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Advantages: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Lower UWB node count than a five-anchor architecture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Precise UWB positioning is possible with validated antenna geometry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Can support CCC/Wallet digital keys when all ecosystem requirements are met</a:t>
            </a:r>
          </a:p>
          <a:p xmlns:a="http://schemas.openxmlformats.org/drawingml/2006/main">
            <a:pPr algn="l">
              <a:spcBef>
                <a:spcPts val="7"/>
              </a:spcBef>
              <a:spcAft>
                <a:spcPts val="2"/>
              </a:spcAft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Limitations: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Sensitive to antenna placement, orientation and occlusion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Less redundancy than multi-anchor UWB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Phones without UWB receive distance only</a:t>
            </a:r>
          </a:p>
          <a:p xmlns:a="http://schemas.openxmlformats.org/drawingml/2006/main">
            <a:pPr algn="l">
              <a:spcBef>
                <a:spcPts val="7"/>
              </a:spcBef>
              <a:defRPr sz="17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Best fit: </a:t>
            </a:r>
            <a:r>
              <a:rPr sz="1725">
                <a:solidFill>
                  <a:schemeClr val="tx1"/>
                </a:solidFill>
                <a:latin typeface="Aptos"/>
                <a:ea typeface="Aptos"/>
                <a:cs typeface="Aptos"/>
              </a:rPr>
              <a:t>Cost-sensitive vehicles with validated RF geometry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C2C6EE08-5558-5729-D80D-3F28BA60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0656"/>
            <a:ext cx="6810487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6200" tIns="38100" rIns="76200" bIns="38100" anchor="t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spcAft>
                <a:spcPts val="2"/>
              </a:spcAft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Configuration: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One BLE-CS node provides distance gating.</a:t>
            </a:r>
          </a:p>
          <a:p xmlns:a="http://schemas.openxmlformats.org/drawingml/2006/main">
            <a:pPr marL="18" indent="-10" algn="l">
              <a:spcAft>
                <a:spcPts val="2"/>
              </a:spcAft>
              <a:buChar char="•"/>
              <a:defRPr sz="1650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chemeClr val="tx1"/>
                </a:solidFill>
                <a:latin typeface="Aptos"/>
                <a:ea typeface="Aptos"/>
                <a:cs typeface="Aptos"/>
              </a:rPr>
              <a:t>Two UWB nodes use ToF + AoA for positioning.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893820A-8D51-DFD1-5A3C-5599D292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88" y="1968649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UWB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20E2CCC-B575-5D0D-07A9-878A0F4B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88" y="4413324"/>
            <a:ext cx="946672" cy="2779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/>
              <a:t>UWB</a:t>
            </a:r>
          </a:p>
        </p:txBody>
      </p:sp>
      <p:sp>
        <p:nvSpPr>
          <p:cNvPr id="18" name="5-Point Star 17">
            <a:extLst xmlns:a="http://schemas.openxmlformats.org/drawingml/2006/main">
              <a:ext uri="{FF2B5EF4-FFF2-40B4-BE49-F238E27FC236}">
                <a16:creationId xmlns:a16="http://schemas.microsoft.com/office/drawing/2014/main" id="{E4B6AF0B-FF52-8C1E-CBA3-2B69FF0E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499" y="2089473"/>
            <a:ext cx="128067" cy="105469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08221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C41CF1-FFD8-4F99-C823-778739BDC5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Bluetooth CS: Platform Constraints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EE45B0-B7FC-1FDF-BFD1-E773692B14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lIns="95250" tIns="47625" rIns="95250" bIns="47625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87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chemeClr val="tx1"/>
                </a:solidFill>
                <a:latin typeface="Aptos"/>
                <a:ea typeface="Aptos"/>
                <a:cs typeface="Aptos"/>
              </a:rPr>
              <a:t>Radio support alone is insufficient: OS support, an exposed API and runtime capability checks are also required. [1][3][4][5]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87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chemeClr val="tx1"/>
                </a:solidFill>
                <a:latin typeface="Aptos"/>
                <a:ea typeface="Aptos"/>
                <a:cs typeface="Aptos"/>
              </a:rPr>
              <a:t>On iOS 27, an N1-equipped iPhone is the Initiator and the connected accessory is the Reflector. [1]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87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chemeClr val="tx1"/>
                </a:solidFill>
                <a:latin typeface="Aptos"/>
                <a:ea typeface="Aptos"/>
                <a:cs typeface="Aptos"/>
              </a:rPr>
              <a:t>Third-party iOS apps can use public Core Bluetooth or Nearby Interaction APIs after AccessorySetupKit pairing; CS pauses when the app enters the background. [1][2][3]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87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chemeClr val="tx1"/>
                </a:solidFill>
                <a:latin typeface="Aptos"/>
                <a:ea typeface="Aptos"/>
                <a:cs typeface="Aptos"/>
              </a:rPr>
              <a:t>Apple accessory baseline: Bluetooth 6.3, Inline PCT, Mode 0 + Mode 2, and T_FCS ≥ 100 µs. [1]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87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chemeClr val="tx1"/>
                </a:solidFill>
                <a:latin typeface="Aptos"/>
                <a:ea typeface="Aptos"/>
                <a:cs typeface="Aptos"/>
              </a:rPr>
              <a:t>Android 16 adds unified Bluetooth CS ranging APIs and supports Initiator/Responder roles; hardware capability must be queried. [4][5]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87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chemeClr val="tx1"/>
                </a:solidFill>
                <a:latin typeface="Aptos"/>
                <a:ea typeface="Aptos"/>
                <a:cs typeface="Aptos"/>
              </a:rPr>
              <a:t>Generic third-party background Bluetooth CS ranging is not allowed on Android; the documented background exception is UWB only. [4]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87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chemeClr val="tx1"/>
                </a:solidFill>
                <a:latin typeface="Aptos"/>
                <a:ea typeface="Aptos"/>
                <a:cs typeface="Aptos"/>
              </a:rPr>
              <a:t>Concurrency is not guaranteed: a Responder handles one Initiator at a time and systems enforce session limits; validate controller capacity and scheduling. [4][6]</a:t>
            </a:r>
          </a:p>
        </p:txBody>
      </p:sp>
    </p:spTree>
    <p:extLst>
      <p:ext uri="{BB962C8B-B14F-4D97-AF65-F5344CB8AC3E}">
        <p14:creationId xmlns:p14="http://schemas.microsoft.com/office/powerpoint/2010/main" val="31323985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C41CF1-FFD8-4F99-C823-778739BDC5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Bluetooth CS: Official References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EE45B0-B7FC-1FDF-BFD1-E773692B14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lIns="76200" tIns="28575" rIns="76200" bIns="285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9"/>
              </a:spcAft>
              <a:defRPr sz="1500">
                <a:latin typeface="Aptos"/>
                <a:ea typeface="Aptos"/>
                <a:cs typeface="Aptos"/>
              </a:defRPr>
            </a:pPr>
            <a:r>
              <a:rPr sz="1500" b="1" u="sng">
                <a:solidFill>
                  <a:srgbClr val="156082"/>
                </a:solidFill>
                <a:latin typeface="Aptos"/>
                <a:ea typeface="Aptos"/>
                <a:cs typeface="Aptos"/>
                <a:hlinkClick xmlns:r="http://schemas.openxmlformats.org/officeDocument/2006/relationships" r:id="Rd32a9d56db154f70"/>
              </a:rPr>
              <a:t>[1] Apple WWDC26 — Find your accessory with Bluetooth Channel Sounding
</a:t>
            </a:r>
            <a:r>
              <a:rPr sz="1500">
                <a:solidFill>
                  <a:srgbClr val="475569"/>
                </a:solidFill>
                <a:latin typeface="Aptos"/>
                <a:ea typeface="Aptos"/>
                <a:cs typeface="Aptos"/>
                <a:hlinkClick xmlns:r="http://schemas.openxmlformats.org/officeDocument/2006/relationships" r:id="Rca50ac762cb34548"/>
              </a:rPr>
              <a:t>developer.apple.com/videos/play/wwdc2026/369</a:t>
            </a:r>
          </a:p>
          <a:p xmlns:a="http://schemas.openxmlformats.org/drawingml/2006/main">
            <a:pPr algn="l">
              <a:spcAft>
                <a:spcPts val="9"/>
              </a:spcAft>
              <a:defRPr sz="1500">
                <a:latin typeface="Aptos"/>
                <a:ea typeface="Aptos"/>
                <a:cs typeface="Aptos"/>
              </a:defRPr>
            </a:pPr>
            <a:r>
              <a:rPr sz="1500" b="1" u="sng">
                <a:solidFill>
                  <a:srgbClr val="156082"/>
                </a:solidFill>
                <a:latin typeface="Aptos"/>
                <a:ea typeface="Aptos"/>
                <a:cs typeface="Aptos"/>
                <a:hlinkClick xmlns:r="http://schemas.openxmlformats.org/officeDocument/2006/relationships" r:id="R587eaed555c64713"/>
              </a:rPr>
              <a:t>[2] Apple Core Bluetooth — Measuring distance using Channel Sounding
</a:t>
            </a:r>
            <a:r>
              <a:rPr sz="1500">
                <a:solidFill>
                  <a:srgbClr val="475569"/>
                </a:solidFill>
                <a:latin typeface="Aptos"/>
                <a:ea typeface="Aptos"/>
                <a:cs typeface="Aptos"/>
                <a:hlinkClick xmlns:r="http://schemas.openxmlformats.org/officeDocument/2006/relationships" r:id="Ra13429162c4e4153"/>
              </a:rPr>
              <a:t>developer.apple.com/documentation/corebluetooth/measuring-distance-between-devices-using-channel-sounding</a:t>
            </a:r>
          </a:p>
          <a:p xmlns:a="http://schemas.openxmlformats.org/drawingml/2006/main">
            <a:pPr algn="l">
              <a:spcAft>
                <a:spcPts val="9"/>
              </a:spcAft>
              <a:defRPr sz="1500">
                <a:latin typeface="Aptos"/>
                <a:ea typeface="Aptos"/>
                <a:cs typeface="Aptos"/>
              </a:defRPr>
            </a:pPr>
            <a:r>
              <a:rPr sz="1500" b="1" u="sng">
                <a:solidFill>
                  <a:srgbClr val="156082"/>
                </a:solidFill>
                <a:latin typeface="Aptos"/>
                <a:ea typeface="Aptos"/>
                <a:cs typeface="Aptos"/>
                <a:hlinkClick xmlns:r="http://schemas.openxmlformats.org/officeDocument/2006/relationships" r:id="Ra6870517109e4dbf"/>
              </a:rPr>
              <a:t>[3] Apple Nearby Interaction — supportsBluetoothChannelSounding
</a:t>
            </a:r>
            <a:r>
              <a:rPr sz="1500">
                <a:solidFill>
                  <a:srgbClr val="475569"/>
                </a:solidFill>
                <a:latin typeface="Aptos"/>
                <a:ea typeface="Aptos"/>
                <a:cs typeface="Aptos"/>
                <a:hlinkClick xmlns:r="http://schemas.openxmlformats.org/officeDocument/2006/relationships" r:id="R309e7079d3d44c7b"/>
              </a:rPr>
              <a:t>developer.apple.com/documentation/nearbyinteraction/nidevicecapability/supportsbluetoothchannelsounding</a:t>
            </a:r>
          </a:p>
          <a:p xmlns:a="http://schemas.openxmlformats.org/drawingml/2006/main">
            <a:pPr algn="l">
              <a:spcAft>
                <a:spcPts val="9"/>
              </a:spcAft>
              <a:defRPr sz="1500">
                <a:latin typeface="Aptos"/>
                <a:ea typeface="Aptos"/>
                <a:cs typeface="Aptos"/>
              </a:defRPr>
            </a:pPr>
            <a:r>
              <a:rPr sz="1500" b="1" u="sng">
                <a:solidFill>
                  <a:srgbClr val="156082"/>
                </a:solidFill>
                <a:latin typeface="Aptos"/>
                <a:ea typeface="Aptos"/>
                <a:cs typeface="Aptos"/>
                <a:hlinkClick xmlns:r="http://schemas.openxmlformats.org/officeDocument/2006/relationships" r:id="R8037ee0522bd4bd1"/>
              </a:rPr>
              <a:t>[4] Android Developers — Range between devices
</a:t>
            </a:r>
            <a:r>
              <a:rPr sz="1500">
                <a:solidFill>
                  <a:srgbClr val="475569"/>
                </a:solidFill>
                <a:latin typeface="Aptos"/>
                <a:ea typeface="Aptos"/>
                <a:cs typeface="Aptos"/>
                <a:hlinkClick xmlns:r="http://schemas.openxmlformats.org/officeDocument/2006/relationships" r:id="R44d57d71668b4bfb"/>
              </a:rPr>
              <a:t>developer.android.com/develop/connectivity/ranging</a:t>
            </a:r>
          </a:p>
          <a:p xmlns:a="http://schemas.openxmlformats.org/drawingml/2006/main">
            <a:pPr algn="l">
              <a:spcAft>
                <a:spcPts val="9"/>
              </a:spcAft>
              <a:defRPr sz="1500">
                <a:latin typeface="Aptos"/>
                <a:ea typeface="Aptos"/>
                <a:cs typeface="Aptos"/>
              </a:defRPr>
            </a:pPr>
            <a:r>
              <a:rPr sz="1500" b="1" u="sng">
                <a:solidFill>
                  <a:srgbClr val="156082"/>
                </a:solidFill>
                <a:latin typeface="Aptos"/>
                <a:ea typeface="Aptos"/>
                <a:cs typeface="Aptos"/>
                <a:hlinkClick xmlns:r="http://schemas.openxmlformats.org/officeDocument/2006/relationships" r:id="R60bddbbed2874a09"/>
              </a:rPr>
              <a:t>[5] Android API — RangingCapabilities.getCsCapabilities()
</a:t>
            </a:r>
            <a:r>
              <a:rPr sz="1500">
                <a:solidFill>
                  <a:srgbClr val="475569"/>
                </a:solidFill>
                <a:latin typeface="Aptos"/>
                <a:ea typeface="Aptos"/>
                <a:cs typeface="Aptos"/>
                <a:hlinkClick xmlns:r="http://schemas.openxmlformats.org/officeDocument/2006/relationships" r:id="R86a276af99d54d9b"/>
              </a:rPr>
              <a:t>developer.android.com/reference/android/ranging/RangingCapabilities</a:t>
            </a:r>
          </a:p>
          <a:p xmlns:a="http://schemas.openxmlformats.org/drawingml/2006/main">
            <a:pPr algn="l">
              <a:spcAft>
                <a:spcPts val="9"/>
              </a:spcAft>
              <a:defRPr sz="1500">
                <a:latin typeface="Aptos"/>
                <a:ea typeface="Aptos"/>
                <a:cs typeface="Aptos"/>
              </a:defRPr>
            </a:pPr>
            <a:r>
              <a:rPr sz="1500" b="1" u="sng">
                <a:solidFill>
                  <a:srgbClr val="156082"/>
                </a:solidFill>
                <a:latin typeface="Aptos"/>
                <a:ea typeface="Aptos"/>
                <a:cs typeface="Aptos"/>
                <a:hlinkClick xmlns:r="http://schemas.openxmlformats.org/officeDocument/2006/relationships" r:id="Rc068459fd5df42e6"/>
              </a:rPr>
              <a:t>[6] Bluetooth Core 6.0 — Vol 6, Part H: Channel Sounding
</a:t>
            </a:r>
            <a:r>
              <a:rPr sz="1500">
                <a:solidFill>
                  <a:srgbClr val="475569"/>
                </a:solidFill>
                <a:latin typeface="Aptos"/>
                <a:ea typeface="Aptos"/>
                <a:cs typeface="Aptos"/>
                <a:hlinkClick xmlns:r="http://schemas.openxmlformats.org/officeDocument/2006/relationships" r:id="Rc4183672faf84760"/>
              </a:rPr>
              <a:t>www.bluetooth.com/wp-content/uploads/Files/Specification/HTML/Core-60/out/en/low-energy-controller/channel-sounding.html</a:t>
            </a:r>
          </a:p>
        </p:txBody>
      </p:sp>
    </p:spTree>
    <p:extLst>
      <p:ext uri="{BB962C8B-B14F-4D97-AF65-F5344CB8AC3E}">
        <p14:creationId xmlns:p14="http://schemas.microsoft.com/office/powerpoint/2010/main" val="31323985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89EED6-1183-8B86-FF21-28CC2FFB38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RSSI Positioning: Engineering Guidance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BBA4624-6ACB-1827-EAFC-BFF7B7B25C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lIns="95250" tIns="47625" rIns="95250" bIns="47625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Use case boundary: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RSSI is suitable for coarse proximity and compatibility fallback, not secure distance bounding.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Modeling: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Do not rely on a free-space path-loss formula alone.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Calibration: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Collect data on the real vehicle across cabin, doors, trunk and perimeter zones.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Device diversity: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Maintain handset-specific or capability-class profiles and update them continuously.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Validation: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Measure false unlock, false reject, inside/outside classification and relay-risk behavior under worst-case conditions.</a:t>
            </a:r>
          </a:p>
        </p:txBody>
      </p:sp>
    </p:spTree>
    <p:extLst>
      <p:ext uri="{BB962C8B-B14F-4D97-AF65-F5344CB8AC3E}">
        <p14:creationId xmlns:p14="http://schemas.microsoft.com/office/powerpoint/2010/main" val="21078512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6FB334-4DAE-6B17-793A-F041AD45A5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/>
              <a:t>UWB: Ranging, Positioning and Reuse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91BCA3-E1E8-A7AC-2481-5CA3BA38EA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lIns="95250" tIns="47625" rIns="95250" bIns="47625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Ranging: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Time-of-Flight / two-way ranging provides precise distance.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Positioning: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ToF plus AoA can provide position with suitable antennas and geometry.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Digital key: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BLE + UWB + NFC can support passive, location-aware CCC Digital Key architectures.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Reuse candidates: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UWB radar hardware may also support Child Presence Detection and kick sensing.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Boundary: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Do not claim drop-in replacement of ultrasonic parking sensors without independent coverage, safety and homologation validation.</a:t>
            </a:r>
          </a:p>
        </p:txBody>
      </p:sp>
    </p:spTree>
    <p:extLst>
      <p:ext uri="{BB962C8B-B14F-4D97-AF65-F5344CB8AC3E}">
        <p14:creationId xmlns:p14="http://schemas.microsoft.com/office/powerpoint/2010/main" val="555158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35D302-3AB8-97F4-6855-9C80DF4DCC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NFC Integration: Timing and Coexistence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FDF4D8-0D4F-D2F1-F543-7B2CCD32BF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lIns="95250" tIns="47625" rIns="95250" bIns="47625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17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Apple baseline: </a:t>
            </a:r>
            <a:r>
              <a:rPr sz="2175">
                <a:solidFill>
                  <a:schemeClr val="tx1"/>
                </a:solidFill>
                <a:latin typeface="Aptos"/>
                <a:ea typeface="Aptos"/>
                <a:cs typeface="Aptos"/>
              </a:rPr>
              <a:t>Confirm the required ECP revision against the current Apple program document; do not freeze an unverified public version number.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17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End-to-end timing: </a:t>
            </a:r>
            <a:r>
              <a:rPr sz="2175">
                <a:solidFill>
                  <a:schemeClr val="tx1"/>
                </a:solidFill>
                <a:latin typeface="Aptos"/>
                <a:ea typeface="Aptos"/>
                <a:cs typeface="Aptos"/>
              </a:rPr>
              <a:t>Budget the complete NFC transaction across reader, gateway, vehicle network, DK controller and secure storage.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17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Vehicle network: </a:t>
            </a:r>
            <a:r>
              <a:rPr sz="2175">
                <a:solidFill>
                  <a:schemeClr val="tx1"/>
                </a:solidFill>
                <a:latin typeface="Aptos"/>
                <a:ea typeface="Aptos"/>
                <a:cs typeface="Aptos"/>
              </a:rPr>
              <a:t>Classical CAN has an 8-byte payload and can add segmentation latency; CAN FD supports up to 64 bytes and is generally preferred, but measured timing is decisive.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17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Wireless charging: </a:t>
            </a:r>
            <a:r>
              <a:rPr sz="2175">
                <a:solidFill>
                  <a:schemeClr val="tx1"/>
                </a:solidFill>
                <a:latin typeface="Aptos"/>
                <a:ea typeface="Aptos"/>
                <a:cs typeface="Aptos"/>
              </a:rPr>
              <a:t>Validate antenna detuning, EMC, foreign-object behavior and thermal safety when NFC and charging coils are co-located.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17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Compatibility: </a:t>
            </a:r>
            <a:r>
              <a:rPr sz="2175">
                <a:solidFill>
                  <a:schemeClr val="tx1"/>
                </a:solidFill>
                <a:latin typeface="Aptos"/>
                <a:ea typeface="Aptos"/>
                <a:cs typeface="Aptos"/>
              </a:rPr>
              <a:t>Test supported phones, cards and low-power / power-reserve operating modes.</a:t>
            </a:r>
          </a:p>
        </p:txBody>
      </p:sp>
    </p:spTree>
    <p:extLst>
      <p:ext uri="{BB962C8B-B14F-4D97-AF65-F5344CB8AC3E}">
        <p14:creationId xmlns:p14="http://schemas.microsoft.com/office/powerpoint/2010/main" val="26100608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221758-95CD-F1AF-038B-C9B597D72E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/>
              <a:t>Secure Key Storage: SE vs. HSM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DD977E1-3B38-0E5A-3658-66F8C32CD9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lIns="95250" tIns="47625" rIns="95250" bIns="47625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Secure Element (SE):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Dedicated tamper-resistant component for key isolation and cryptographic operations; adds BOM and provisioning integration.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Embedded HSM: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Security subsystem inside the MCU/SoC; lowers component count but assurance and capacity depend on the selected platform.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Decision criteria: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Threat model, certification target, key lifecycle, cryptographic throughput, secure provisioning, diagnostics and serviceability.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Architecture rule: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Private keys must remain non-exportable; expose operations through a narrow crypto service interface.</a:t>
            </a:r>
          </a:p>
        </p:txBody>
      </p:sp>
    </p:spTree>
    <p:extLst>
      <p:ext uri="{BB962C8B-B14F-4D97-AF65-F5344CB8AC3E}">
        <p14:creationId xmlns:p14="http://schemas.microsoft.com/office/powerpoint/2010/main" val="40626909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C648B2-9C19-5532-9382-E683C1BDB2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Vehicle Hardware Portability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C39B97-C576-DBF0-7671-4B11C8D09E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lIns="95250" tIns="47625" rIns="95250" bIns="47625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DK main module: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Abstract MCU/SoC, OS, vehicle network, BLE/NFC/UWB stacks and SE/HSM access behind stable interfaces.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Anchor modules: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Use a common control/ranging API across radio vendors; isolate vendor drivers and firmware services.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Configuration: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Keep anchor position, antenna configuration, power limits and vehicle variant data outside the core application.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Calibration: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Treat RF calibration and phone profiles as vehicle-specific versioned data, not hard-coded logic.</a:t>
            </a:r>
          </a:p>
        </p:txBody>
      </p:sp>
    </p:spTree>
    <p:extLst>
      <p:ext uri="{BB962C8B-B14F-4D97-AF65-F5344CB8AC3E}">
        <p14:creationId xmlns:p14="http://schemas.microsoft.com/office/powerpoint/2010/main" val="27352478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D2B78B-40C8-2DA8-46DF-B76166FC9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Vehicle Software Portability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D00F996-E196-A188-FC87-87F444604E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lIns="95250" tIns="47625" rIns="95250" bIns="47625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Portable core: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Credential lifecycle, authentication, access policy and vehicle-state logic remain hardware-independent.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Protocol adapters: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Separate CCC/Wallet, proprietary protocols and OEM backend integration from the core state machine.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Anchor software: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Share the application protocol and diagnostics; isolate radio HAL, ranging data capture and vendor-specific control.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Independent evolution: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Version algorithms, calibration, configuration and drivers separately with explicit compatibility rules.</a:t>
            </a:r>
          </a:p>
        </p:txBody>
      </p:sp>
    </p:spTree>
    <p:extLst>
      <p:ext uri="{BB962C8B-B14F-4D97-AF65-F5344CB8AC3E}">
        <p14:creationId xmlns:p14="http://schemas.microsoft.com/office/powerpoint/2010/main" val="118812877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83D379-C90E-4B7C-B9BB-89C05AAA5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 Reuse Boundary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B97E8A-642E-1390-B05A-86497DBFEF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lIns="95250" tIns="47625" rIns="95250" bIns="47625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Reuse directly: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Digital-key lifecycle flows, mobile/Wallet/cloud integration patterns, vehicle-side core logic and existing test assets.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Adapt per platform: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MCU/OS, vehicle network, BLE/NFC/UWB drivers, secure storage, provisioning and diagnostics.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Calibrate per vehicle: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Anchor placement, antennas, RF thresholds, ranging fusion and handset profiles.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2325">
                <a:solidFill>
                  <a:schemeClr val="tx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Revalidate end to end: </a:t>
            </a:r>
            <a:r>
              <a:rPr sz="2325">
                <a:solidFill>
                  <a:schemeClr val="tx1"/>
                </a:solidFill>
                <a:latin typeface="Aptos"/>
                <a:ea typeface="Aptos"/>
                <a:cs typeface="Aptos"/>
              </a:rPr>
              <a:t>Apple/Android compatibility, concurrency, cybersecurity, timing, RF performance, fault handling and production provisioning.</a:t>
            </a:r>
          </a:p>
        </p:txBody>
      </p:sp>
    </p:spTree>
    <p:extLst>
      <p:ext uri="{BB962C8B-B14F-4D97-AF65-F5344CB8AC3E}">
        <p14:creationId xmlns:p14="http://schemas.microsoft.com/office/powerpoint/2010/main" val="40223742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2026-09-03T02:42:17.3920000Z</dcterms:created>
  <dcterms:modified xsi:type="dcterms:W3CDTF">2026-09-03T02:42:17.3920000Z</dcterms:modified>
</coreProperties>
</file>